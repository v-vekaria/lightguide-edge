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in one sentence, not an agenda. 12 minutes, 15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phrase 'opportunity for innovation' out loud — the top band language is explicit. Ground SDG 12 in reshoots, SDG 8 in freelancers without an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inverse-square coupling is the intellectual core of the project. If you only get one idea across, make it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Trim this slide first if running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session-split argument is the highest-value point on the 15% data row. Say it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 lux meter: absolute lux is not needed because every class is relative to a saved reference. What is needed is the response curve, and distance gives that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frozen-scaler and grouped-CV points are what separates a 2:1 from a 1st on the ML row. State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M2 is the closest thing here to a novelty claim — but its recall is 0.169, so present it as a partial result, not a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EI page open in a tab in case they want to see it during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Optimal has precision 0.60 with recall 1.00 — it over-predicts. That is the near-boundary region, and it sets up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this. Volunteering the caveat before you are asked is worth more than the 1.000 itself. The honest next measurement is a boundary sweep at +4, +6, +10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all four. A limitation you raise yourself reads as rigour; the same one raised by the marker reads as 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UNKNOWN SETUP only if it fires in the first two attempts — M2 recall is 0.169. Promising it and having it not fire is worse than not promising it. State the boundary limitation out loud during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boundary sweep — it shows you know what your own headline number does not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set text maps to a specific claim: Warden and Situnayake for the RAM-bound argument, Situnayake and Plunkett for online evaluation, Buyya and Srirama for edge placement, Iodice for the Nano workflow. Be ready to say what each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E"/>
        </a:solidFill>
      </p:bgPr>
    </p:bg>
    <p:spTree>
      <p:nvGrpSpPr>
        <p:cNvPr id="1" name=""/>
        <p:cNvGrpSpPr/>
        <p:nvPr/>
      </p:nvGrpSpPr>
      <p:grpSpPr>
        <a:xfrm>
          <a:off x="0" y="0"/>
          <a:ext cx="0" cy="0"/>
          <a:chOff x="0" y="0"/>
          <a:chExt cx="0" cy="0"/>
        </a:xfrm>
      </p:grpSpPr>
      <p:sp>
        <p:nvSpPr>
          <p:cNvPr id="2" name="Text 0"/>
          <p:cNvSpPr/>
          <p:nvPr/>
        </p:nvSpPr>
        <p:spPr>
          <a:xfrm>
            <a:off x="548640" y="2057400"/>
            <a:ext cx="11094415" cy="86868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LightGuide Edge</a:t>
            </a:r>
            <a:endParaRPr lang="en-US" sz="5200" dirty="0"/>
          </a:p>
        </p:txBody>
      </p:sp>
      <p:sp>
        <p:nvSpPr>
          <p:cNvPr id="3" name="Text 1"/>
          <p:cNvSpPr/>
          <p:nvPr/>
        </p:nvSpPr>
        <p:spPr>
          <a:xfrm>
            <a:off x="548640" y="2971800"/>
            <a:ext cx="8778240" cy="640080"/>
          </a:xfrm>
          <a:prstGeom prst="rect">
            <a:avLst/>
          </a:prstGeom>
          <a:noFill/>
          <a:ln/>
        </p:spPr>
        <p:txBody>
          <a:bodyPr wrap="square" lIns="0" tIns="0" rIns="0" bIns="0" rtlCol="0" anchor="ctr"/>
          <a:lstStyle/>
          <a:p>
            <a:pPr indent="0" marL="0">
              <a:buNone/>
            </a:pPr>
            <a:r>
              <a:rPr lang="en-US" sz="1700" dirty="0">
                <a:solidFill>
                  <a:srgbClr val="E08A2E"/>
                </a:solidFill>
                <a:latin typeface="Calibri" pitchFamily="34" charset="0"/>
                <a:ea typeface="Calibri" pitchFamily="34" charset="-122"/>
                <a:cs typeface="Calibri" pitchFamily="34" charset="-120"/>
              </a:rPr>
              <a:t>A camera-free device that tells a photographer how to fix their lighting — in 21 microseconds, on a microcontroller.</a:t>
            </a:r>
            <a:endParaRPr lang="en-US" sz="1700" dirty="0"/>
          </a:p>
        </p:txBody>
      </p:sp>
      <p:sp>
        <p:nvSpPr>
          <p:cNvPr id="4" name="Text 2"/>
          <p:cNvSpPr/>
          <p:nvPr/>
        </p:nvSpPr>
        <p:spPr>
          <a:xfrm>
            <a:off x="548640" y="4160520"/>
            <a:ext cx="11094415" cy="365760"/>
          </a:xfrm>
          <a:prstGeom prst="rect">
            <a:avLst/>
          </a:prstGeom>
          <a:noFill/>
          <a:ln/>
        </p:spPr>
        <p:txBody>
          <a:bodyPr wrap="square" lIns="0" tIns="0" rIns="0" bIns="0" rtlCol="0" anchor="ctr"/>
          <a:lstStyle/>
          <a:p>
            <a:pPr indent="0" marL="0">
              <a:buNone/>
            </a:pPr>
            <a:r>
              <a:rPr lang="en-US" sz="1300" dirty="0">
                <a:solidFill>
                  <a:srgbClr val="9AA3B2"/>
                </a:solidFill>
                <a:latin typeface="Calibri" pitchFamily="34" charset="0"/>
                <a:ea typeface="Calibri" pitchFamily="34" charset="-122"/>
                <a:cs typeface="Calibri" pitchFamily="34" charset="-120"/>
              </a:rPr>
              <a:t>Vishnu Vekariya  ·  B00969091  ·  COM683 Edge and Embedded Intelligence  ·  CW2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The problem</a:t>
            </a:r>
            <a:endParaRPr lang="en-US" sz="34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indent="0" marL="0">
              <a:buNone/>
            </a:pPr>
            <a:r>
              <a:rPr lang="en-US" sz="1400" dirty="0">
                <a:solidFill>
                  <a:srgbClr val="6E7687"/>
                </a:solidFill>
                <a:latin typeface="Calibri" pitchFamily="34" charset="0"/>
                <a:ea typeface="Calibri" pitchFamily="34" charset="-122"/>
                <a:cs typeface="Calibri" pitchFamily="34" charset="-120"/>
              </a:rPr>
              <a:t>Small-studio and freelance photographers have no feedback loop on lighting setup</a:t>
            </a:r>
            <a:endParaRPr lang="en-US" sz="1400" dirty="0"/>
          </a:p>
        </p:txBody>
      </p:sp>
      <p:sp>
        <p:nvSpPr>
          <p:cNvPr id="4" name="Text 2"/>
          <p:cNvSpPr/>
          <p:nvPr/>
        </p:nvSpPr>
        <p:spPr>
          <a:xfrm>
            <a:off x="548640" y="1536192"/>
            <a:ext cx="5943600" cy="3749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41A2E"/>
                </a:solidFill>
                <a:latin typeface="Calibri" pitchFamily="34" charset="0"/>
                <a:ea typeface="Calibri" pitchFamily="34" charset="-122"/>
                <a:cs typeface="Calibri" pitchFamily="34" charset="-120"/>
              </a:rPr>
              <a:t>Lighting is set by eye, then re-set by eye at every session. Nothing records what "correct" was.</a:t>
            </a:r>
            <a:endParaRPr lang="en-US" sz="1400" dirty="0"/>
          </a:p>
          <a:p>
            <a:pPr marL="342900" indent="-342900">
              <a:spcAft>
                <a:spcPts val="800"/>
              </a:spcAft>
              <a:buSzPct val="100000"/>
              <a:buChar char="•"/>
            </a:pPr>
            <a:r>
              <a:rPr lang="en-US" sz="1400" dirty="0">
                <a:solidFill>
                  <a:srgbClr val="141A2E"/>
                </a:solidFill>
                <a:latin typeface="Calibri" pitchFamily="34" charset="0"/>
                <a:ea typeface="Calibri" pitchFamily="34" charset="-122"/>
                <a:cs typeface="Calibri" pitchFamily="34" charset="-120"/>
              </a:rPr>
              <a:t>Getting it wrong costs a reshoot: wasted travel, wasted studio hire, wasted energy — SDG 12, responsible consumption.</a:t>
            </a:r>
            <a:endParaRPr lang="en-US" sz="1400" dirty="0"/>
          </a:p>
          <a:p>
            <a:pPr marL="342900" indent="-342900">
              <a:spcAft>
                <a:spcPts val="800"/>
              </a:spcAft>
              <a:buSzPct val="100000"/>
              <a:buChar char="•"/>
            </a:pPr>
            <a:r>
              <a:rPr lang="en-US" sz="1400" dirty="0">
                <a:solidFill>
                  <a:srgbClr val="141A2E"/>
                </a:solidFill>
                <a:latin typeface="Calibri" pitchFamily="34" charset="0"/>
                <a:ea typeface="Calibri" pitchFamily="34" charset="-122"/>
                <a:cs typeface="Calibri" pitchFamily="34" charset="-120"/>
              </a:rPr>
              <a:t>The people worst affected are freelancers and small businesses without an assistant or a light meter — SDG 8, decent work and productive employment.</a:t>
            </a:r>
            <a:endParaRPr lang="en-US" sz="1400" dirty="0"/>
          </a:p>
          <a:p>
            <a:pPr marL="342900" indent="-342900">
              <a:spcAft>
                <a:spcPts val="800"/>
              </a:spcAft>
              <a:buSzPct val="100000"/>
              <a:buChar char="•"/>
            </a:pPr>
            <a:r>
              <a:rPr lang="en-US" sz="1400" dirty="0">
                <a:solidFill>
                  <a:srgbClr val="141A2E"/>
                </a:solidFill>
                <a:latin typeface="Calibri" pitchFamily="34" charset="0"/>
                <a:ea typeface="Calibri" pitchFamily="34" charset="-122"/>
                <a:cs typeface="Calibri" pitchFamily="34" charset="-120"/>
              </a:rPr>
              <a:t>Existing aids are cameras or phone apps: they need a lens pointed at the subject, which is a privacy problem in client work.</a:t>
            </a:r>
            <a:endParaRPr lang="en-US" sz="1400" dirty="0"/>
          </a:p>
        </p:txBody>
      </p:sp>
      <p:sp>
        <p:nvSpPr>
          <p:cNvPr id="5" name="Shape 3"/>
          <p:cNvSpPr/>
          <p:nvPr/>
        </p:nvSpPr>
        <p:spPr>
          <a:xfrm>
            <a:off x="6766560" y="1536192"/>
            <a:ext cx="4873752" cy="2148840"/>
          </a:xfrm>
          <a:prstGeom prst="roundRect">
            <a:avLst>
              <a:gd name="adj" fmla="val 3404"/>
            </a:avLst>
          </a:prstGeom>
          <a:solidFill>
            <a:srgbClr val="F3F5F9"/>
          </a:solidFill>
          <a:ln w="12700">
            <a:solidFill>
              <a:srgbClr val="F3F5F9"/>
            </a:solidFill>
            <a:prstDash val="solid"/>
          </a:ln>
        </p:spPr>
      </p:sp>
      <p:sp>
        <p:nvSpPr>
          <p:cNvPr id="6" name="Text 4"/>
          <p:cNvSpPr/>
          <p:nvPr/>
        </p:nvSpPr>
        <p:spPr>
          <a:xfrm>
            <a:off x="6967728" y="1682496"/>
            <a:ext cx="4471416" cy="310896"/>
          </a:xfrm>
          <a:prstGeom prst="rect">
            <a:avLst/>
          </a:prstGeom>
          <a:noFill/>
          <a:ln/>
        </p:spPr>
        <p:txBody>
          <a:bodyPr wrap="square" lIns="0" tIns="0" rIns="0" bIns="0" rtlCol="0" anchor="ctr"/>
          <a:lstStyle/>
          <a:p>
            <a:pPr indent="0" marL="0">
              <a:buNone/>
            </a:pPr>
            <a:r>
              <a:rPr lang="en-US" sz="1400" b="1" dirty="0">
                <a:solidFill>
                  <a:srgbClr val="E08A2E"/>
                </a:solidFill>
                <a:latin typeface="Calibri" pitchFamily="34" charset="0"/>
                <a:ea typeface="Calibri" pitchFamily="34" charset="-122"/>
                <a:cs typeface="Calibri" pitchFamily="34" charset="-120"/>
              </a:rPr>
              <a:t>The opportunity for innovation</a:t>
            </a:r>
            <a:endParaRPr lang="en-US" sz="1400" dirty="0"/>
          </a:p>
        </p:txBody>
      </p:sp>
      <p:sp>
        <p:nvSpPr>
          <p:cNvPr id="7" name="Text 5"/>
          <p:cNvSpPr/>
          <p:nvPr/>
        </p:nvSpPr>
        <p:spPr>
          <a:xfrm>
            <a:off x="6967728" y="2011680"/>
            <a:ext cx="4471416" cy="1508760"/>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A sub-£30 device that senses geometry and light directly, judges the setup against a saved reference, and guides the operator back — with no camera, no cloud and no personal data.</a:t>
            </a:r>
            <a:endParaRPr lang="en-US" sz="1200" dirty="0"/>
          </a:p>
        </p:txBody>
      </p:sp>
      <p:sp>
        <p:nvSpPr>
          <p:cNvPr id="8" name="Text 6"/>
          <p:cNvSpPr/>
          <p:nvPr/>
        </p:nvSpPr>
        <p:spPr>
          <a:xfrm>
            <a:off x="6766560" y="3977640"/>
            <a:ext cx="1463040" cy="566928"/>
          </a:xfrm>
          <a:prstGeom prst="rect">
            <a:avLst/>
          </a:prstGeom>
          <a:noFill/>
          <a:ln/>
        </p:spPr>
        <p:txBody>
          <a:bodyPr wrap="none" lIns="0" tIns="0" rIns="0" bIns="0" rtlCol="0" anchor="ctr"/>
          <a:lstStyle/>
          <a:p>
            <a:pPr algn="ctr" indent="0" marL="0">
              <a:buNone/>
            </a:pPr>
            <a:r>
              <a:rPr lang="en-US" sz="3400" b="1" dirty="0">
                <a:solidFill>
                  <a:srgbClr val="1F6F7A"/>
                </a:solidFill>
                <a:latin typeface="Cambria" pitchFamily="34" charset="0"/>
                <a:ea typeface="Cambria" pitchFamily="34" charset="-122"/>
                <a:cs typeface="Cambria" pitchFamily="34" charset="-120"/>
              </a:rPr>
              <a:t>£30</a:t>
            </a:r>
            <a:endParaRPr lang="en-US" sz="3400" dirty="0"/>
          </a:p>
        </p:txBody>
      </p:sp>
      <p:sp>
        <p:nvSpPr>
          <p:cNvPr id="9" name="Text 7"/>
          <p:cNvSpPr/>
          <p:nvPr/>
        </p:nvSpPr>
        <p:spPr>
          <a:xfrm>
            <a:off x="6766560" y="4526280"/>
            <a:ext cx="1463040" cy="566928"/>
          </a:xfrm>
          <a:prstGeom prst="rect">
            <a:avLst/>
          </a:prstGeom>
          <a:noFill/>
          <a:ln/>
        </p:spPr>
        <p:txBody>
          <a:bodyPr wrap="square" lIns="0" tIns="0" rIns="0" bIns="0" rtlCol="0" anchor="t"/>
          <a:lstStyle/>
          <a:p>
            <a:pPr algn="ctr" indent="0" marL="0">
              <a:buNone/>
            </a:pPr>
            <a:r>
              <a:rPr lang="en-US" sz="1100" dirty="0">
                <a:solidFill>
                  <a:srgbClr val="6E7687"/>
                </a:solidFill>
                <a:latin typeface="Calibri" pitchFamily="34" charset="0"/>
                <a:ea typeface="Calibri" pitchFamily="34" charset="-122"/>
                <a:cs typeface="Calibri" pitchFamily="34" charset="-120"/>
              </a:rPr>
              <a:t>bill of materials</a:t>
            </a:r>
            <a:endParaRPr lang="en-US" sz="1100" dirty="0"/>
          </a:p>
        </p:txBody>
      </p:sp>
      <p:sp>
        <p:nvSpPr>
          <p:cNvPr id="10" name="Text 8"/>
          <p:cNvSpPr/>
          <p:nvPr/>
        </p:nvSpPr>
        <p:spPr>
          <a:xfrm>
            <a:off x="8412480" y="3977640"/>
            <a:ext cx="1463040" cy="566928"/>
          </a:xfrm>
          <a:prstGeom prst="rect">
            <a:avLst/>
          </a:prstGeom>
          <a:noFill/>
          <a:ln/>
        </p:spPr>
        <p:txBody>
          <a:bodyPr wrap="none" lIns="0" tIns="0" rIns="0" bIns="0" rtlCol="0" anchor="ctr"/>
          <a:lstStyle/>
          <a:p>
            <a:pPr algn="ctr" indent="0" marL="0">
              <a:buNone/>
            </a:pPr>
            <a:r>
              <a:rPr lang="en-US" sz="3400" b="1" dirty="0">
                <a:solidFill>
                  <a:srgbClr val="1F6F7A"/>
                </a:solidFill>
                <a:latin typeface="Cambria" pitchFamily="34" charset="0"/>
                <a:ea typeface="Cambria" pitchFamily="34" charset="-122"/>
                <a:cs typeface="Cambria" pitchFamily="34" charset="-120"/>
              </a:rPr>
              <a:t>0</a:t>
            </a:r>
            <a:endParaRPr lang="en-US" sz="3400" dirty="0"/>
          </a:p>
        </p:txBody>
      </p:sp>
      <p:sp>
        <p:nvSpPr>
          <p:cNvPr id="11" name="Text 9"/>
          <p:cNvSpPr/>
          <p:nvPr/>
        </p:nvSpPr>
        <p:spPr>
          <a:xfrm>
            <a:off x="8412480" y="4526280"/>
            <a:ext cx="1463040" cy="566928"/>
          </a:xfrm>
          <a:prstGeom prst="rect">
            <a:avLst/>
          </a:prstGeom>
          <a:noFill/>
          <a:ln/>
        </p:spPr>
        <p:txBody>
          <a:bodyPr wrap="square" lIns="0" tIns="0" rIns="0" bIns="0" rtlCol="0" anchor="t"/>
          <a:lstStyle/>
          <a:p>
            <a:pPr algn="ctr" indent="0" marL="0">
              <a:buNone/>
            </a:pPr>
            <a:r>
              <a:rPr lang="en-US" sz="1100" dirty="0">
                <a:solidFill>
                  <a:srgbClr val="6E7687"/>
                </a:solidFill>
                <a:latin typeface="Calibri" pitchFamily="34" charset="0"/>
                <a:ea typeface="Calibri" pitchFamily="34" charset="-122"/>
                <a:cs typeface="Calibri" pitchFamily="34" charset="-120"/>
              </a:rPr>
              <a:t>images captured</a:t>
            </a:r>
            <a:endParaRPr lang="en-US" sz="1100" dirty="0"/>
          </a:p>
        </p:txBody>
      </p:sp>
      <p:sp>
        <p:nvSpPr>
          <p:cNvPr id="12" name="Text 10"/>
          <p:cNvSpPr/>
          <p:nvPr/>
        </p:nvSpPr>
        <p:spPr>
          <a:xfrm>
            <a:off x="10058400" y="3977640"/>
            <a:ext cx="1554480" cy="566928"/>
          </a:xfrm>
          <a:prstGeom prst="rect">
            <a:avLst/>
          </a:prstGeom>
          <a:noFill/>
          <a:ln/>
        </p:spPr>
        <p:txBody>
          <a:bodyPr wrap="none" lIns="0" tIns="0" rIns="0" bIns="0" rtlCol="0" anchor="ctr"/>
          <a:lstStyle/>
          <a:p>
            <a:pPr algn="ctr" indent="0" marL="0">
              <a:buNone/>
            </a:pPr>
            <a:r>
              <a:rPr lang="en-US" sz="3400" b="1" dirty="0">
                <a:solidFill>
                  <a:srgbClr val="1F6F7A"/>
                </a:solidFill>
                <a:latin typeface="Cambria" pitchFamily="34" charset="0"/>
                <a:ea typeface="Cambria" pitchFamily="34" charset="-122"/>
                <a:cs typeface="Cambria" pitchFamily="34" charset="-120"/>
              </a:rPr>
              <a:t>5</a:t>
            </a:r>
            <a:endParaRPr lang="en-US" sz="3400" dirty="0"/>
          </a:p>
        </p:txBody>
      </p:sp>
      <p:sp>
        <p:nvSpPr>
          <p:cNvPr id="13" name="Text 11"/>
          <p:cNvSpPr/>
          <p:nvPr/>
        </p:nvSpPr>
        <p:spPr>
          <a:xfrm>
            <a:off x="10058400" y="4526280"/>
            <a:ext cx="1554480" cy="566928"/>
          </a:xfrm>
          <a:prstGeom prst="rect">
            <a:avLst/>
          </a:prstGeom>
          <a:noFill/>
          <a:ln/>
        </p:spPr>
        <p:txBody>
          <a:bodyPr wrap="square" lIns="0" tIns="0" rIns="0" bIns="0" rtlCol="0" anchor="t"/>
          <a:lstStyle/>
          <a:p>
            <a:pPr algn="ctr" indent="0" marL="0">
              <a:buNone/>
            </a:pPr>
            <a:r>
              <a:rPr lang="en-US" sz="1100" dirty="0">
                <a:solidFill>
                  <a:srgbClr val="6E7687"/>
                </a:solidFill>
                <a:latin typeface="Calibri" pitchFamily="34" charset="0"/>
                <a:ea typeface="Calibri" pitchFamily="34" charset="-122"/>
                <a:cs typeface="Calibri" pitchFamily="34" charset="-120"/>
              </a:rPr>
              <a:t>setup faults detected</a:t>
            </a:r>
            <a:endParaRPr lang="en-US" sz="1100" dirty="0"/>
          </a:p>
        </p:txBody>
      </p:sp>
      <p:sp>
        <p:nvSpPr>
          <p:cNvPr id="14" name="Text 12"/>
          <p:cNvSpPr/>
          <p:nvPr/>
        </p:nvSpPr>
        <p:spPr>
          <a:xfrm>
            <a:off x="6766560" y="5257800"/>
            <a:ext cx="4873752" cy="310896"/>
          </a:xfrm>
          <a:prstGeom prst="rect">
            <a:avLst/>
          </a:prstGeom>
          <a:noFill/>
          <a:ln/>
        </p:spPr>
        <p:txBody>
          <a:bodyPr wrap="square" lIns="0" tIns="0" rIns="0" bIns="0" rtlCol="0" anchor="ctr"/>
          <a:lstStyle/>
          <a:p>
            <a:pPr indent="0" marL="0">
              <a:buNone/>
            </a:pPr>
            <a:r>
              <a:rPr lang="en-US" sz="1000" i="1" dirty="0">
                <a:solidFill>
                  <a:srgbClr val="6E7687"/>
                </a:solidFill>
                <a:latin typeface="Calibri" pitchFamily="34" charset="0"/>
                <a:ea typeface="Calibri" pitchFamily="34" charset="-122"/>
                <a:cs typeface="Calibri" pitchFamily="34" charset="-120"/>
              </a:rPr>
              <a:t>Cost and privacy are the two barriers this removes.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The solution, and why machine learning earns its place</a:t>
            </a:r>
            <a:endParaRPr lang="en-US" sz="34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indent="0" marL="0">
              <a:buNone/>
            </a:pPr>
            <a:r>
              <a:rPr lang="en-US" sz="1400" dirty="0">
                <a:solidFill>
                  <a:srgbClr val="6E7687"/>
                </a:solidFill>
                <a:latin typeface="Calibri" pitchFamily="34" charset="0"/>
                <a:ea typeface="Calibri" pitchFamily="34" charset="-122"/>
                <a:cs typeface="Calibri" pitchFamily="34" charset="-120"/>
              </a:rPr>
              <a:t>Sense → classify → guide, as a closed loop on the device</a:t>
            </a:r>
            <a:endParaRPr lang="en-US" sz="1400" dirty="0"/>
          </a:p>
        </p:txBody>
      </p:sp>
      <p:sp>
        <p:nvSpPr>
          <p:cNvPr id="4" name="Shape 2"/>
          <p:cNvSpPr/>
          <p:nvPr/>
        </p:nvSpPr>
        <p:spPr>
          <a:xfrm>
            <a:off x="548640" y="1536192"/>
            <a:ext cx="3566160" cy="1737360"/>
          </a:xfrm>
          <a:prstGeom prst="roundRect">
            <a:avLst>
              <a:gd name="adj" fmla="val 4211"/>
            </a:avLst>
          </a:prstGeom>
          <a:solidFill>
            <a:srgbClr val="F3F5F9"/>
          </a:solidFill>
          <a:ln w="12700">
            <a:solidFill>
              <a:srgbClr val="F3F5F9"/>
            </a:solidFill>
            <a:prstDash val="solid"/>
          </a:ln>
        </p:spPr>
      </p:sp>
      <p:sp>
        <p:nvSpPr>
          <p:cNvPr id="5" name="Text 3"/>
          <p:cNvSpPr/>
          <p:nvPr/>
        </p:nvSpPr>
        <p:spPr>
          <a:xfrm>
            <a:off x="749808" y="1682496"/>
            <a:ext cx="3163824" cy="310896"/>
          </a:xfrm>
          <a:prstGeom prst="rect">
            <a:avLst/>
          </a:prstGeom>
          <a:noFill/>
          <a:ln/>
        </p:spPr>
        <p:txBody>
          <a:bodyPr wrap="square" lIns="0" tIns="0" rIns="0" bIns="0" rtlCol="0" anchor="ctr"/>
          <a:lstStyle/>
          <a:p>
            <a:pPr indent="0" marL="0">
              <a:buNone/>
            </a:pPr>
            <a:r>
              <a:rPr lang="en-US" sz="1400" b="1" dirty="0">
                <a:solidFill>
                  <a:srgbClr val="1F6F7A"/>
                </a:solidFill>
                <a:latin typeface="Calibri" pitchFamily="34" charset="0"/>
                <a:ea typeface="Calibri" pitchFamily="34" charset="-122"/>
                <a:cs typeface="Calibri" pitchFamily="34" charset="-120"/>
              </a:rPr>
              <a:t>1  Sense</a:t>
            </a:r>
            <a:endParaRPr lang="en-US" sz="1400" dirty="0"/>
          </a:p>
        </p:txBody>
      </p:sp>
      <p:sp>
        <p:nvSpPr>
          <p:cNvPr id="6" name="Text 4"/>
          <p:cNvSpPr/>
          <p:nvPr/>
        </p:nvSpPr>
        <p:spPr>
          <a:xfrm>
            <a:off x="749808" y="2011680"/>
            <a:ext cx="3163824" cy="1097280"/>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Ultrasonic range and an LDR, sampled at 8 Hz. The LDR is read inside the ultrasonic ping gaps so the two channels never contend.</a:t>
            </a:r>
            <a:endParaRPr lang="en-US" sz="1200" dirty="0"/>
          </a:p>
        </p:txBody>
      </p:sp>
      <p:sp>
        <p:nvSpPr>
          <p:cNvPr id="7" name="Shape 5"/>
          <p:cNvSpPr/>
          <p:nvPr/>
        </p:nvSpPr>
        <p:spPr>
          <a:xfrm>
            <a:off x="4343400" y="1536192"/>
            <a:ext cx="3566160" cy="1737360"/>
          </a:xfrm>
          <a:prstGeom prst="roundRect">
            <a:avLst>
              <a:gd name="adj" fmla="val 4211"/>
            </a:avLst>
          </a:prstGeom>
          <a:solidFill>
            <a:srgbClr val="F3F5F9"/>
          </a:solidFill>
          <a:ln w="12700">
            <a:solidFill>
              <a:srgbClr val="F3F5F9"/>
            </a:solidFill>
            <a:prstDash val="solid"/>
          </a:ln>
        </p:spPr>
      </p:sp>
      <p:sp>
        <p:nvSpPr>
          <p:cNvPr id="8" name="Text 6"/>
          <p:cNvSpPr/>
          <p:nvPr/>
        </p:nvSpPr>
        <p:spPr>
          <a:xfrm>
            <a:off x="4544568" y="1682496"/>
            <a:ext cx="3163824" cy="310896"/>
          </a:xfrm>
          <a:prstGeom prst="rect">
            <a:avLst/>
          </a:prstGeom>
          <a:noFill/>
          <a:ln/>
        </p:spPr>
        <p:txBody>
          <a:bodyPr wrap="square" lIns="0" tIns="0" rIns="0" bIns="0" rtlCol="0" anchor="ctr"/>
          <a:lstStyle/>
          <a:p>
            <a:pPr indent="0" marL="0">
              <a:buNone/>
            </a:pPr>
            <a:r>
              <a:rPr lang="en-US" sz="1400" b="1" dirty="0">
                <a:solidFill>
                  <a:srgbClr val="1F6F7A"/>
                </a:solidFill>
                <a:latin typeface="Calibri" pitchFamily="34" charset="0"/>
                <a:ea typeface="Calibri" pitchFamily="34" charset="-122"/>
                <a:cs typeface="Calibri" pitchFamily="34" charset="-120"/>
              </a:rPr>
              <a:t>2  Classify</a:t>
            </a:r>
            <a:endParaRPr lang="en-US" sz="1400" dirty="0"/>
          </a:p>
        </p:txBody>
      </p:sp>
      <p:sp>
        <p:nvSpPr>
          <p:cNvPr id="9" name="Text 7"/>
          <p:cNvSpPr/>
          <p:nvPr/>
        </p:nvSpPr>
        <p:spPr>
          <a:xfrm>
            <a:off x="4544568" y="2011680"/>
            <a:ext cx="3163824" cy="1097280"/>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A window of 10 samples becomes 8 features, classified on-device into one of five setup states.</a:t>
            </a:r>
            <a:endParaRPr lang="en-US" sz="1200" dirty="0"/>
          </a:p>
        </p:txBody>
      </p:sp>
      <p:sp>
        <p:nvSpPr>
          <p:cNvPr id="10" name="Shape 8"/>
          <p:cNvSpPr/>
          <p:nvPr/>
        </p:nvSpPr>
        <p:spPr>
          <a:xfrm>
            <a:off x="8138160" y="1536192"/>
            <a:ext cx="3566160" cy="1737360"/>
          </a:xfrm>
          <a:prstGeom prst="roundRect">
            <a:avLst>
              <a:gd name="adj" fmla="val 4211"/>
            </a:avLst>
          </a:prstGeom>
          <a:solidFill>
            <a:srgbClr val="F3F5F9"/>
          </a:solidFill>
          <a:ln w="12700">
            <a:solidFill>
              <a:srgbClr val="F3F5F9"/>
            </a:solidFill>
            <a:prstDash val="solid"/>
          </a:ln>
        </p:spPr>
      </p:sp>
      <p:sp>
        <p:nvSpPr>
          <p:cNvPr id="11" name="Text 9"/>
          <p:cNvSpPr/>
          <p:nvPr/>
        </p:nvSpPr>
        <p:spPr>
          <a:xfrm>
            <a:off x="8339328" y="1682496"/>
            <a:ext cx="3163824" cy="310896"/>
          </a:xfrm>
          <a:prstGeom prst="rect">
            <a:avLst/>
          </a:prstGeom>
          <a:noFill/>
          <a:ln/>
        </p:spPr>
        <p:txBody>
          <a:bodyPr wrap="square" lIns="0" tIns="0" rIns="0" bIns="0" rtlCol="0" anchor="ctr"/>
          <a:lstStyle/>
          <a:p>
            <a:pPr indent="0" marL="0">
              <a:buNone/>
            </a:pPr>
            <a:r>
              <a:rPr lang="en-US" sz="1400" b="1" dirty="0">
                <a:solidFill>
                  <a:srgbClr val="1F6F7A"/>
                </a:solidFill>
                <a:latin typeface="Calibri" pitchFamily="34" charset="0"/>
                <a:ea typeface="Calibri" pitchFamily="34" charset="-122"/>
                <a:cs typeface="Calibri" pitchFamily="34" charset="-120"/>
              </a:rPr>
              <a:t>3  Guide</a:t>
            </a:r>
            <a:endParaRPr lang="en-US" sz="1400" dirty="0"/>
          </a:p>
        </p:txBody>
      </p:sp>
      <p:sp>
        <p:nvSpPr>
          <p:cNvPr id="12" name="Text 10"/>
          <p:cNvSpPr/>
          <p:nvPr/>
        </p:nvSpPr>
        <p:spPr>
          <a:xfrm>
            <a:off x="8339328" y="2011680"/>
            <a:ext cx="3163824" cy="1097280"/>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OLED text, an LED and a buzzer whose pitch encodes direction and rate encodes urgency.</a:t>
            </a:r>
            <a:endParaRPr lang="en-US" sz="1200" dirty="0"/>
          </a:p>
        </p:txBody>
      </p:sp>
      <p:sp>
        <p:nvSpPr>
          <p:cNvPr id="13" name="Shape 11"/>
          <p:cNvSpPr/>
          <p:nvPr/>
        </p:nvSpPr>
        <p:spPr>
          <a:xfrm>
            <a:off x="548640" y="3529584"/>
            <a:ext cx="7406640" cy="2788920"/>
          </a:xfrm>
          <a:prstGeom prst="roundRect">
            <a:avLst>
              <a:gd name="adj" fmla="val 2623"/>
            </a:avLst>
          </a:prstGeom>
          <a:solidFill>
            <a:srgbClr val="F3F5F9"/>
          </a:solidFill>
          <a:ln w="12700">
            <a:solidFill>
              <a:srgbClr val="F3F5F9"/>
            </a:solidFill>
            <a:prstDash val="solid"/>
          </a:ln>
        </p:spPr>
      </p:sp>
      <p:sp>
        <p:nvSpPr>
          <p:cNvPr id="14" name="Text 12"/>
          <p:cNvSpPr/>
          <p:nvPr/>
        </p:nvSpPr>
        <p:spPr>
          <a:xfrm>
            <a:off x="749808" y="3675888"/>
            <a:ext cx="7004304" cy="310896"/>
          </a:xfrm>
          <a:prstGeom prst="rect">
            <a:avLst/>
          </a:prstGeom>
          <a:noFill/>
          <a:ln/>
        </p:spPr>
        <p:txBody>
          <a:bodyPr wrap="square" lIns="0" tIns="0" rIns="0" bIns="0" rtlCol="0" anchor="ctr"/>
          <a:lstStyle/>
          <a:p>
            <a:pPr indent="0" marL="0">
              <a:buNone/>
            </a:pPr>
            <a:r>
              <a:rPr lang="en-US" sz="1400" b="1" dirty="0">
                <a:solidFill>
                  <a:srgbClr val="E08A2E"/>
                </a:solidFill>
                <a:latin typeface="Calibri" pitchFamily="34" charset="0"/>
                <a:ea typeface="Calibri" pitchFamily="34" charset="-122"/>
                <a:cs typeface="Calibri" pitchFamily="34" charset="-120"/>
              </a:rPr>
              <a:t>Why not a pair of thresholds?</a:t>
            </a:r>
            <a:endParaRPr lang="en-US" sz="1400" dirty="0"/>
          </a:p>
        </p:txBody>
      </p:sp>
      <p:sp>
        <p:nvSpPr>
          <p:cNvPr id="15" name="Text 13"/>
          <p:cNvSpPr/>
          <p:nvPr/>
        </p:nvSpPr>
        <p:spPr>
          <a:xfrm>
            <a:off x="749808" y="4005072"/>
            <a:ext cx="7004304" cy="2148840"/>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Because the two channels are physically coupled. Illuminance falls with the square of distance, so moving the stand changes the light reading even when the lamp has not been touched. A fixed light threshold therefore fires on a distance error, and a fixed distance threshold misses a lighting one. The classifier learns the joint region instead — and the ablation on slide 12 measures exactly what that coupling is worth: 0.41 and 0.46 macro-F1 for each channel alone, 0.87 together.</a:t>
            </a:r>
            <a:endParaRPr lang="en-US" sz="1200" dirty="0"/>
          </a:p>
        </p:txBody>
      </p:sp>
      <p:sp>
        <p:nvSpPr>
          <p:cNvPr id="16" name="Shape 14"/>
          <p:cNvSpPr/>
          <p:nvPr/>
        </p:nvSpPr>
        <p:spPr>
          <a:xfrm>
            <a:off x="8183880" y="3529584"/>
            <a:ext cx="3456432" cy="2788920"/>
          </a:xfrm>
          <a:prstGeom prst="roundRect">
            <a:avLst>
              <a:gd name="adj" fmla="val 2623"/>
            </a:avLst>
          </a:prstGeom>
          <a:solidFill>
            <a:srgbClr val="F3F5F9"/>
          </a:solidFill>
          <a:ln w="12700">
            <a:solidFill>
              <a:srgbClr val="F3F5F9"/>
            </a:solidFill>
            <a:prstDash val="solid"/>
          </a:ln>
        </p:spPr>
      </p:sp>
      <p:sp>
        <p:nvSpPr>
          <p:cNvPr id="17" name="Text 15"/>
          <p:cNvSpPr/>
          <p:nvPr/>
        </p:nvSpPr>
        <p:spPr>
          <a:xfrm>
            <a:off x="8385048" y="3675888"/>
            <a:ext cx="3054096" cy="310896"/>
          </a:xfrm>
          <a:prstGeom prst="rect">
            <a:avLst/>
          </a:prstGeom>
          <a:noFill/>
          <a:ln/>
        </p:spPr>
        <p:txBody>
          <a:bodyPr wrap="square" lIns="0" tIns="0" rIns="0" bIns="0" rtlCol="0" anchor="ctr"/>
          <a:lstStyle/>
          <a:p>
            <a:pPr indent="0" marL="0">
              <a:buNone/>
            </a:pPr>
            <a:r>
              <a:rPr lang="en-US" sz="1400" b="1" dirty="0">
                <a:solidFill>
                  <a:srgbClr val="1F6F7A"/>
                </a:solidFill>
                <a:latin typeface="Calibri" pitchFamily="34" charset="0"/>
                <a:ea typeface="Calibri" pitchFamily="34" charset="-122"/>
                <a:cs typeface="Calibri" pitchFamily="34" charset="-120"/>
              </a:rPr>
              <a:t>Placed at the edge, deliberately</a:t>
            </a:r>
            <a:endParaRPr lang="en-US" sz="1400" dirty="0"/>
          </a:p>
        </p:txBody>
      </p:sp>
      <p:sp>
        <p:nvSpPr>
          <p:cNvPr id="18" name="Text 16"/>
          <p:cNvSpPr/>
          <p:nvPr/>
        </p:nvSpPr>
        <p:spPr>
          <a:xfrm>
            <a:off x="8385048" y="4005072"/>
            <a:ext cx="3054096" cy="2148840"/>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Inference is 21 µs against a 125 ms sensing period, so the loop is bound by physics, not compute. Nothing leaves the device — the privacy argument and the latency argument point the same way here (Buyya and Srirama, 2019; Situnayake and Plunkett, 2022).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Ethical, technical and social context</a:t>
            </a:r>
            <a:endParaRPr lang="en-US" sz="34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indent="0" marL="0">
              <a:buNone/>
            </a:pPr>
            <a:r>
              <a:rPr lang="en-US" sz="1400" dirty="0">
                <a:solidFill>
                  <a:srgbClr val="6E7687"/>
                </a:solidFill>
                <a:latin typeface="Calibri" pitchFamily="34" charset="0"/>
                <a:ea typeface="Calibri" pitchFamily="34" charset="-122"/>
                <a:cs typeface="Calibri" pitchFamily="34" charset="-120"/>
              </a:rPr>
              <a:t>What the design chooses not to do is as important as what it does</a:t>
            </a:r>
            <a:endParaRPr lang="en-US" sz="1400" dirty="0"/>
          </a:p>
        </p:txBody>
      </p:sp>
      <p:sp>
        <p:nvSpPr>
          <p:cNvPr id="4" name="Shape 2"/>
          <p:cNvSpPr/>
          <p:nvPr/>
        </p:nvSpPr>
        <p:spPr>
          <a:xfrm>
            <a:off x="548640" y="1554480"/>
            <a:ext cx="11094415" cy="1481328"/>
          </a:xfrm>
          <a:prstGeom prst="roundRect">
            <a:avLst>
              <a:gd name="adj" fmla="val 4938"/>
            </a:avLst>
          </a:prstGeom>
          <a:solidFill>
            <a:srgbClr val="F3F5F9"/>
          </a:solidFill>
          <a:ln w="12700">
            <a:solidFill>
              <a:srgbClr val="F3F5F9"/>
            </a:solidFill>
            <a:prstDash val="solid"/>
          </a:ln>
        </p:spPr>
      </p:sp>
      <p:sp>
        <p:nvSpPr>
          <p:cNvPr id="5" name="Text 3"/>
          <p:cNvSpPr/>
          <p:nvPr/>
        </p:nvSpPr>
        <p:spPr>
          <a:xfrm>
            <a:off x="749808" y="1700784"/>
            <a:ext cx="10692079" cy="310896"/>
          </a:xfrm>
          <a:prstGeom prst="rect">
            <a:avLst/>
          </a:prstGeom>
          <a:noFill/>
          <a:ln/>
        </p:spPr>
        <p:txBody>
          <a:bodyPr wrap="square" lIns="0" tIns="0" rIns="0" bIns="0" rtlCol="0" anchor="ctr"/>
          <a:lstStyle/>
          <a:p>
            <a:pPr indent="0" marL="0">
              <a:buNone/>
            </a:pPr>
            <a:r>
              <a:rPr lang="en-US" sz="1400" b="1" dirty="0">
                <a:solidFill>
                  <a:srgbClr val="1F6F7A"/>
                </a:solidFill>
                <a:latin typeface="Calibri" pitchFamily="34" charset="0"/>
                <a:ea typeface="Calibri" pitchFamily="34" charset="-122"/>
                <a:cs typeface="Calibri" pitchFamily="34" charset="-120"/>
              </a:rPr>
              <a:t>Ethical — privacy by construction</a:t>
            </a:r>
            <a:endParaRPr lang="en-US" sz="1400" dirty="0"/>
          </a:p>
        </p:txBody>
      </p:sp>
      <p:sp>
        <p:nvSpPr>
          <p:cNvPr id="6" name="Text 4"/>
          <p:cNvSpPr/>
          <p:nvPr/>
        </p:nvSpPr>
        <p:spPr>
          <a:xfrm>
            <a:off x="749808" y="2029968"/>
            <a:ext cx="10692079" cy="841248"/>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No camera, no microphone, no images, no personal data. The device cannot identify a person because it never senses one: it measures distance to a surface and light falling on a cell. Privacy is a property of the sensor choice, not of a policy.</a:t>
            </a:r>
            <a:endParaRPr lang="en-US" sz="1200" dirty="0"/>
          </a:p>
        </p:txBody>
      </p:sp>
      <p:sp>
        <p:nvSpPr>
          <p:cNvPr id="7" name="Shape 5"/>
          <p:cNvSpPr/>
          <p:nvPr/>
        </p:nvSpPr>
        <p:spPr>
          <a:xfrm>
            <a:off x="548640" y="3182112"/>
            <a:ext cx="11094415" cy="1481328"/>
          </a:xfrm>
          <a:prstGeom prst="roundRect">
            <a:avLst>
              <a:gd name="adj" fmla="val 4938"/>
            </a:avLst>
          </a:prstGeom>
          <a:solidFill>
            <a:srgbClr val="F3F5F9"/>
          </a:solidFill>
          <a:ln w="12700">
            <a:solidFill>
              <a:srgbClr val="F3F5F9"/>
            </a:solidFill>
            <a:prstDash val="solid"/>
          </a:ln>
        </p:spPr>
      </p:sp>
      <p:sp>
        <p:nvSpPr>
          <p:cNvPr id="8" name="Text 6"/>
          <p:cNvSpPr/>
          <p:nvPr/>
        </p:nvSpPr>
        <p:spPr>
          <a:xfrm>
            <a:off x="749808" y="3328416"/>
            <a:ext cx="10692079" cy="310896"/>
          </a:xfrm>
          <a:prstGeom prst="rect">
            <a:avLst/>
          </a:prstGeom>
          <a:noFill/>
          <a:ln/>
        </p:spPr>
        <p:txBody>
          <a:bodyPr wrap="square" lIns="0" tIns="0" rIns="0" bIns="0" rtlCol="0" anchor="ctr"/>
          <a:lstStyle/>
          <a:p>
            <a:pPr indent="0" marL="0">
              <a:buNone/>
            </a:pPr>
            <a:r>
              <a:rPr lang="en-US" sz="1400" b="1" dirty="0">
                <a:solidFill>
                  <a:srgbClr val="141A2E"/>
                </a:solidFill>
                <a:latin typeface="Calibri" pitchFamily="34" charset="0"/>
                <a:ea typeface="Calibri" pitchFamily="34" charset="-122"/>
                <a:cs typeface="Calibri" pitchFamily="34" charset="-120"/>
              </a:rPr>
              <a:t>Technical — the constraint is RAM</a:t>
            </a:r>
            <a:endParaRPr lang="en-US" sz="1400" dirty="0"/>
          </a:p>
        </p:txBody>
      </p:sp>
      <p:sp>
        <p:nvSpPr>
          <p:cNvPr id="9" name="Text 7"/>
          <p:cNvSpPr/>
          <p:nvPr/>
        </p:nvSpPr>
        <p:spPr>
          <a:xfrm>
            <a:off x="749808" y="3657600"/>
            <a:ext cx="10692079" cy="841248"/>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46.7 KB of 256 KB static RAM and 12.3% of flash. On microcontrollers the binding limit is memory, not arithmetic (Warden and Situnayake, 2019), which is why an 8-feature tree beats a neural network here.</a:t>
            </a:r>
            <a:endParaRPr lang="en-US" sz="1200" dirty="0"/>
          </a:p>
        </p:txBody>
      </p:sp>
      <p:sp>
        <p:nvSpPr>
          <p:cNvPr id="10" name="Shape 8"/>
          <p:cNvSpPr/>
          <p:nvPr/>
        </p:nvSpPr>
        <p:spPr>
          <a:xfrm>
            <a:off x="548640" y="4809744"/>
            <a:ext cx="11094415" cy="1481328"/>
          </a:xfrm>
          <a:prstGeom prst="roundRect">
            <a:avLst>
              <a:gd name="adj" fmla="val 4938"/>
            </a:avLst>
          </a:prstGeom>
          <a:solidFill>
            <a:srgbClr val="F3F5F9"/>
          </a:solidFill>
          <a:ln w="12700">
            <a:solidFill>
              <a:srgbClr val="F3F5F9"/>
            </a:solidFill>
            <a:prstDash val="solid"/>
          </a:ln>
        </p:spPr>
      </p:sp>
      <p:sp>
        <p:nvSpPr>
          <p:cNvPr id="11" name="Text 9"/>
          <p:cNvSpPr/>
          <p:nvPr/>
        </p:nvSpPr>
        <p:spPr>
          <a:xfrm>
            <a:off x="749808" y="4956048"/>
            <a:ext cx="10692079" cy="310896"/>
          </a:xfrm>
          <a:prstGeom prst="rect">
            <a:avLst/>
          </a:prstGeom>
          <a:noFill/>
          <a:ln/>
        </p:spPr>
        <p:txBody>
          <a:bodyPr wrap="square" lIns="0" tIns="0" rIns="0" bIns="0" rtlCol="0" anchor="ctr"/>
          <a:lstStyle/>
          <a:p>
            <a:pPr indent="0" marL="0">
              <a:buNone/>
            </a:pPr>
            <a:r>
              <a:rPr lang="en-US" sz="1400" b="1" dirty="0">
                <a:solidFill>
                  <a:srgbClr val="E08A2E"/>
                </a:solidFill>
                <a:latin typeface="Calibri" pitchFamily="34" charset="0"/>
                <a:ea typeface="Calibri" pitchFamily="34" charset="-122"/>
                <a:cs typeface="Calibri" pitchFamily="34" charset="-120"/>
              </a:rPr>
              <a:t>Social — who it is for</a:t>
            </a:r>
            <a:endParaRPr lang="en-US" sz="1400" dirty="0"/>
          </a:p>
        </p:txBody>
      </p:sp>
      <p:sp>
        <p:nvSpPr>
          <p:cNvPr id="12" name="Text 10"/>
          <p:cNvSpPr/>
          <p:nvPr/>
        </p:nvSpPr>
        <p:spPr>
          <a:xfrm>
            <a:off x="749808" y="5285232"/>
            <a:ext cx="10692079" cy="841248"/>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Aimed at freelancers and small studios, the users least able to absorb a reshoot. A sub-£30 device with no subscription and no account is accessible in a way a metered app is not.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Data collection methodology</a:t>
            </a:r>
            <a:endParaRPr lang="en-US" sz="34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indent="0" marL="0">
              <a:buNone/>
            </a:pPr>
            <a:r>
              <a:rPr lang="en-US" sz="1400" dirty="0">
                <a:solidFill>
                  <a:srgbClr val="6E7687"/>
                </a:solidFill>
                <a:latin typeface="Calibri" pitchFamily="34" charset="0"/>
                <a:ea typeface="Calibri" pitchFamily="34" charset="-122"/>
                <a:cs typeface="Calibri" pitchFamily="34" charset="-120"/>
              </a:rPr>
              <a:t>1,832 labelled samples · 45 runs · 3 sessions · 5 classes · 0 dropouts, 0 NaNs</a:t>
            </a:r>
            <a:endParaRPr lang="en-US" sz="1400" dirty="0"/>
          </a:p>
        </p:txBody>
      </p:sp>
      <p:sp>
        <p:nvSpPr>
          <p:cNvPr id="4" name="Text 2"/>
          <p:cNvSpPr/>
          <p:nvPr/>
        </p:nvSpPr>
        <p:spPr>
          <a:xfrm>
            <a:off x="548640" y="1536192"/>
            <a:ext cx="6766560" cy="27889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41A2E"/>
                </a:solidFill>
                <a:latin typeface="Calibri" pitchFamily="34" charset="0"/>
                <a:ea typeface="Calibri" pitchFamily="34" charset="-122"/>
                <a:cs typeface="Calibri" pitchFamily="34" charset="-120"/>
              </a:rPr>
              <a:t>Five classes: optimal, too_close, too_far, underlit, overlit. Each defined relative to a saved reference setup, not to an absolute distance — so a reference saved next week still works.</a:t>
            </a:r>
            <a:endParaRPr lang="en-US" sz="1300" dirty="0"/>
          </a:p>
          <a:p>
            <a:pPr marL="342900" indent="-342900">
              <a:spcAft>
                <a:spcPts val="800"/>
              </a:spcAft>
              <a:buSzPct val="100000"/>
              <a:buChar char="•"/>
            </a:pPr>
            <a:r>
              <a:rPr lang="en-US" sz="1300" dirty="0">
                <a:solidFill>
                  <a:srgbClr val="141A2E"/>
                </a:solidFill>
                <a:latin typeface="Calibri" pitchFamily="34" charset="0"/>
                <a:ea typeface="Calibri" pitchFamily="34" charset="-122"/>
                <a:cs typeface="Calibri" pitchFamily="34" charset="-120"/>
              </a:rPr>
              <a:t>Three sessions on different days, with the rig re-referenced each time. Session 3 is held out entirely and never seen during training.</a:t>
            </a:r>
            <a:endParaRPr lang="en-US" sz="1300" dirty="0"/>
          </a:p>
          <a:p>
            <a:pPr marL="342900" indent="-342900">
              <a:spcAft>
                <a:spcPts val="800"/>
              </a:spcAft>
              <a:buSzPct val="100000"/>
              <a:buChar char="•"/>
            </a:pPr>
            <a:r>
              <a:rPr lang="en-US" sz="1300" dirty="0">
                <a:solidFill>
                  <a:srgbClr val="141A2E"/>
                </a:solidFill>
                <a:latin typeface="Calibri" pitchFamily="34" charset="0"/>
                <a:ea typeface="Calibri" pitchFamily="34" charset="-122"/>
                <a:cs typeface="Calibri" pitchFamily="34" charset="-120"/>
              </a:rPr>
              <a:t>8 Hz sampling: fast enough to catch the operator settling, slow enough that the ultrasonic ping and the LDR settling do not contend.</a:t>
            </a:r>
            <a:endParaRPr lang="en-US" sz="1300" dirty="0"/>
          </a:p>
          <a:p>
            <a:pPr marL="342900" indent="-342900">
              <a:spcAft>
                <a:spcPts val="800"/>
              </a:spcAft>
              <a:buSzPct val="100000"/>
              <a:buChar char="•"/>
            </a:pPr>
            <a:r>
              <a:rPr lang="en-US" sz="1300" dirty="0">
                <a:solidFill>
                  <a:srgbClr val="141A2E"/>
                </a:solidFill>
                <a:latin typeface="Calibri" pitchFamily="34" charset="0"/>
                <a:ea typeface="Calibri" pitchFamily="34" charset="-122"/>
                <a:cs typeface="Calibri" pitchFamily="34" charset="-120"/>
              </a:rPr>
              <a:t>The staged label is written by the host at the moment of the trial, so ground truth is recorded, not reconstructed from memory afterwards.</a:t>
            </a:r>
            <a:endParaRPr lang="en-US" sz="1300" dirty="0"/>
          </a:p>
        </p:txBody>
      </p:sp>
      <p:sp>
        <p:nvSpPr>
          <p:cNvPr id="5" name="Shape 3"/>
          <p:cNvSpPr/>
          <p:nvPr/>
        </p:nvSpPr>
        <p:spPr>
          <a:xfrm>
            <a:off x="548640" y="4480560"/>
            <a:ext cx="6766560" cy="1847088"/>
          </a:xfrm>
          <a:prstGeom prst="roundRect">
            <a:avLst>
              <a:gd name="adj" fmla="val 3960"/>
            </a:avLst>
          </a:prstGeom>
          <a:solidFill>
            <a:srgbClr val="F3F5F9"/>
          </a:solidFill>
          <a:ln w="12700">
            <a:solidFill>
              <a:srgbClr val="F3F5F9"/>
            </a:solidFill>
            <a:prstDash val="solid"/>
          </a:ln>
        </p:spPr>
      </p:sp>
      <p:sp>
        <p:nvSpPr>
          <p:cNvPr id="6" name="Text 4"/>
          <p:cNvSpPr/>
          <p:nvPr/>
        </p:nvSpPr>
        <p:spPr>
          <a:xfrm>
            <a:off x="749808" y="4626864"/>
            <a:ext cx="6364224" cy="310896"/>
          </a:xfrm>
          <a:prstGeom prst="rect">
            <a:avLst/>
          </a:prstGeom>
          <a:noFill/>
          <a:ln/>
        </p:spPr>
        <p:txBody>
          <a:bodyPr wrap="square" lIns="0" tIns="0" rIns="0" bIns="0" rtlCol="0" anchor="ctr"/>
          <a:lstStyle/>
          <a:p>
            <a:pPr indent="0" marL="0">
              <a:buNone/>
            </a:pPr>
            <a:r>
              <a:rPr lang="en-US" sz="1400" b="1" dirty="0">
                <a:solidFill>
                  <a:srgbClr val="B3453B"/>
                </a:solidFill>
                <a:latin typeface="Calibri" pitchFamily="34" charset="0"/>
                <a:ea typeface="Calibri" pitchFamily="34" charset="-122"/>
                <a:cs typeface="Calibri" pitchFamily="34" charset="-120"/>
              </a:rPr>
              <a:t>Why session-split, not random</a:t>
            </a:r>
            <a:endParaRPr lang="en-US" sz="1400" dirty="0"/>
          </a:p>
        </p:txBody>
      </p:sp>
      <p:sp>
        <p:nvSpPr>
          <p:cNvPr id="7" name="Text 5"/>
          <p:cNvSpPr/>
          <p:nvPr/>
        </p:nvSpPr>
        <p:spPr>
          <a:xfrm>
            <a:off x="749808" y="4956048"/>
            <a:ext cx="6364224" cy="1207008"/>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At 8 Hz consecutive samples are near-duplicates. A random split puts near-identical windows on both sides and reports a score that measures memorisation. Splitting by session — and grouping cross-validation by run — makes the test set answer the question that matters: does this work on a day it has not seen?</a:t>
            </a:r>
            <a:endParaRPr lang="en-US" sz="1200" dirty="0"/>
          </a:p>
        </p:txBody>
      </p:sp>
      <p:pic>
        <p:nvPicPr>
          <p:cNvPr id="8" name="Image 0" descr="C:\Users\vishn\OneDrive\Desktop\Edge Setup\LightGuide-Edge\reports\figures\rig\rig_overview.jpeg">    </p:cNvPr>
          <p:cNvPicPr>
            <a:picLocks noChangeAspect="1"/>
          </p:cNvPicPr>
          <p:nvPr/>
        </p:nvPicPr>
        <p:blipFill>
          <a:blip r:embed="rId1"/>
          <a:srcRect l="0" r="0" t="0" b="0"/>
          <a:stretch/>
        </p:blipFill>
        <p:spPr>
          <a:xfrm>
            <a:off x="7543800" y="1536192"/>
            <a:ext cx="4096512" cy="3749040"/>
          </a:xfrm>
          <a:prstGeom prst="rect">
            <a:avLst/>
          </a:prstGeom>
        </p:spPr>
      </p:pic>
      <p:sp>
        <p:nvSpPr>
          <p:cNvPr id="9" name="Text 6"/>
          <p:cNvSpPr/>
          <p:nvPr/>
        </p:nvSpPr>
        <p:spPr>
          <a:xfrm>
            <a:off x="7543800" y="5376672"/>
            <a:ext cx="4096512" cy="310896"/>
          </a:xfrm>
          <a:prstGeom prst="rect">
            <a:avLst/>
          </a:prstGeom>
          <a:noFill/>
          <a:ln/>
        </p:spPr>
        <p:txBody>
          <a:bodyPr wrap="square" lIns="0" tIns="0" rIns="0" bIns="0" rtlCol="0" anchor="ctr"/>
          <a:lstStyle/>
          <a:p>
            <a:pPr indent="0" marL="0">
              <a:buNone/>
            </a:pPr>
            <a:r>
              <a:rPr lang="en-US" sz="1000" i="1" dirty="0">
                <a:solidFill>
                  <a:srgbClr val="6E7687"/>
                </a:solidFill>
                <a:latin typeface="Calibri" pitchFamily="34" charset="0"/>
                <a:ea typeface="Calibri" pitchFamily="34" charset="-122"/>
                <a:cs typeface="Calibri" pitchFamily="34" charset="-120"/>
              </a:rPr>
              <a:t>The rig as used for collection: lamp and sensor board on one stand.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Data quality controls</a:t>
            </a:r>
            <a:endParaRPr lang="en-US" sz="34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indent="0" marL="0">
              <a:buNone/>
            </a:pPr>
            <a:r>
              <a:rPr lang="en-US" sz="1400" dirty="0">
                <a:solidFill>
                  <a:srgbClr val="6E7687"/>
                </a:solidFill>
                <a:latin typeface="Calibri" pitchFamily="34" charset="0"/>
                <a:ea typeface="Calibri" pitchFamily="34" charset="-122"/>
                <a:cs typeface="Calibri" pitchFamily="34" charset="-120"/>
              </a:rPr>
              <a:t>Calibration against an independent reference, then filtering, gating and audit</a:t>
            </a:r>
            <a:endParaRPr lang="en-US" sz="1400" dirty="0"/>
          </a:p>
        </p:txBody>
      </p:sp>
      <p:pic>
        <p:nvPicPr>
          <p:cNvPr id="4" name="Image 0" descr="C:\Users\vishn\OneDrive\Desktop\Edge Setup\LightGuide-Edge\reports\figures\calibration_ldr.png">    </p:cNvPr>
          <p:cNvPicPr>
            <a:picLocks noChangeAspect="1"/>
          </p:cNvPicPr>
          <p:nvPr/>
        </p:nvPicPr>
        <p:blipFill>
          <a:blip r:embed="rId1"/>
          <a:srcRect l="0" r="0" t="0" b="0"/>
          <a:stretch/>
        </p:blipFill>
        <p:spPr>
          <a:xfrm>
            <a:off x="548640" y="1481328"/>
            <a:ext cx="6675120" cy="2331720"/>
          </a:xfrm>
          <a:prstGeom prst="rect">
            <a:avLst/>
          </a:prstGeom>
        </p:spPr>
      </p:pic>
      <p:sp>
        <p:nvSpPr>
          <p:cNvPr id="5" name="Text 2"/>
          <p:cNvSpPr/>
          <p:nvPr/>
        </p:nvSpPr>
        <p:spPr>
          <a:xfrm>
            <a:off x="548640" y="3877056"/>
            <a:ext cx="6675120" cy="310896"/>
          </a:xfrm>
          <a:prstGeom prst="rect">
            <a:avLst/>
          </a:prstGeom>
          <a:noFill/>
          <a:ln/>
        </p:spPr>
        <p:txBody>
          <a:bodyPr wrap="square" lIns="0" tIns="0" rIns="0" bIns="0" rtlCol="0" anchor="ctr"/>
          <a:lstStyle/>
          <a:p>
            <a:pPr indent="0" marL="0">
              <a:buNone/>
            </a:pPr>
            <a:r>
              <a:rPr lang="en-US" sz="1000" i="1" dirty="0">
                <a:solidFill>
                  <a:srgbClr val="6E7687"/>
                </a:solidFill>
                <a:latin typeface="Calibri" pitchFamily="34" charset="0"/>
                <a:ea typeface="Calibri" pitchFamily="34" charset="-122"/>
                <a:cs typeface="Calibri" pitchFamily="34" charset="-120"/>
              </a:rPr>
              <a:t>Six-point sweep, 40–200 cm, lamp output held fixed; distance is the reference instrument via the inverse-square law.</a:t>
            </a:r>
            <a:endParaRPr lang="en-US" sz="1000" dirty="0"/>
          </a:p>
        </p:txBody>
      </p:sp>
      <p:sp>
        <p:nvSpPr>
          <p:cNvPr id="6" name="Text 3"/>
          <p:cNvSpPr/>
          <p:nvPr/>
        </p:nvSpPr>
        <p:spPr>
          <a:xfrm>
            <a:off x="548640" y="4370832"/>
            <a:ext cx="1645920" cy="566928"/>
          </a:xfrm>
          <a:prstGeom prst="rect">
            <a:avLst/>
          </a:prstGeom>
          <a:noFill/>
          <a:ln/>
        </p:spPr>
        <p:txBody>
          <a:bodyPr wrap="none" lIns="0" tIns="0" rIns="0" bIns="0" rtlCol="0" anchor="ctr"/>
          <a:lstStyle/>
          <a:p>
            <a:pPr algn="ctr" indent="0" marL="0">
              <a:buNone/>
            </a:pPr>
            <a:r>
              <a:rPr lang="en-US" sz="2700" b="1" dirty="0">
                <a:solidFill>
                  <a:srgbClr val="1F6F7A"/>
                </a:solidFill>
                <a:latin typeface="Cambria" pitchFamily="34" charset="0"/>
                <a:ea typeface="Cambria" pitchFamily="34" charset="-122"/>
                <a:cs typeface="Cambria" pitchFamily="34" charset="-120"/>
              </a:rPr>
              <a:t>0.623</a:t>
            </a:r>
            <a:endParaRPr lang="en-US" sz="2700" dirty="0"/>
          </a:p>
        </p:txBody>
      </p:sp>
      <p:sp>
        <p:nvSpPr>
          <p:cNvPr id="7" name="Text 4"/>
          <p:cNvSpPr/>
          <p:nvPr/>
        </p:nvSpPr>
        <p:spPr>
          <a:xfrm>
            <a:off x="548640" y="4919472"/>
            <a:ext cx="1645920" cy="566928"/>
          </a:xfrm>
          <a:prstGeom prst="rect">
            <a:avLst/>
          </a:prstGeom>
          <a:noFill/>
          <a:ln/>
        </p:spPr>
        <p:txBody>
          <a:bodyPr wrap="square" lIns="0" tIns="0" rIns="0" bIns="0" rtlCol="0" anchor="t"/>
          <a:lstStyle/>
          <a:p>
            <a:pPr algn="ctr" indent="0" marL="0">
              <a:buNone/>
            </a:pPr>
            <a:r>
              <a:rPr lang="en-US" sz="1100" dirty="0">
                <a:solidFill>
                  <a:srgbClr val="6E7687"/>
                </a:solidFill>
                <a:latin typeface="Calibri" pitchFamily="34" charset="0"/>
                <a:ea typeface="Calibri" pitchFamily="34" charset="-122"/>
                <a:cs typeface="Calibri" pitchFamily="34" charset="-120"/>
              </a:rPr>
              <a:t>LDR γ (CdS band 0.5–0.9)</a:t>
            </a:r>
            <a:endParaRPr lang="en-US" sz="1100" dirty="0"/>
          </a:p>
        </p:txBody>
      </p:sp>
      <p:sp>
        <p:nvSpPr>
          <p:cNvPr id="8" name="Text 5"/>
          <p:cNvSpPr/>
          <p:nvPr/>
        </p:nvSpPr>
        <p:spPr>
          <a:xfrm>
            <a:off x="2240280" y="4370832"/>
            <a:ext cx="1645920" cy="566928"/>
          </a:xfrm>
          <a:prstGeom prst="rect">
            <a:avLst/>
          </a:prstGeom>
          <a:noFill/>
          <a:ln/>
        </p:spPr>
        <p:txBody>
          <a:bodyPr wrap="none" lIns="0" tIns="0" rIns="0" bIns="0" rtlCol="0" anchor="ctr"/>
          <a:lstStyle/>
          <a:p>
            <a:pPr algn="ctr" indent="0" marL="0">
              <a:buNone/>
            </a:pPr>
            <a:r>
              <a:rPr lang="en-US" sz="2700" b="1" dirty="0">
                <a:solidFill>
                  <a:srgbClr val="1F6F7A"/>
                </a:solidFill>
                <a:latin typeface="Cambria" pitchFamily="34" charset="0"/>
                <a:ea typeface="Cambria" pitchFamily="34" charset="-122"/>
                <a:cs typeface="Cambria" pitchFamily="34" charset="-120"/>
              </a:rPr>
              <a:t>0.9975</a:t>
            </a:r>
            <a:endParaRPr lang="en-US" sz="2700" dirty="0"/>
          </a:p>
        </p:txBody>
      </p:sp>
      <p:sp>
        <p:nvSpPr>
          <p:cNvPr id="9" name="Text 6"/>
          <p:cNvSpPr/>
          <p:nvPr/>
        </p:nvSpPr>
        <p:spPr>
          <a:xfrm>
            <a:off x="2240280" y="4919472"/>
            <a:ext cx="1645920" cy="566928"/>
          </a:xfrm>
          <a:prstGeom prst="rect">
            <a:avLst/>
          </a:prstGeom>
          <a:noFill/>
          <a:ln/>
        </p:spPr>
        <p:txBody>
          <a:bodyPr wrap="square" lIns="0" tIns="0" rIns="0" bIns="0" rtlCol="0" anchor="t"/>
          <a:lstStyle/>
          <a:p>
            <a:pPr algn="ctr" indent="0" marL="0">
              <a:buNone/>
            </a:pPr>
            <a:r>
              <a:rPr lang="en-US" sz="1100" dirty="0">
                <a:solidFill>
                  <a:srgbClr val="6E7687"/>
                </a:solidFill>
                <a:latin typeface="Calibri" pitchFamily="34" charset="0"/>
                <a:ea typeface="Calibri" pitchFamily="34" charset="-122"/>
                <a:cs typeface="Calibri" pitchFamily="34" charset="-120"/>
              </a:rPr>
              <a:t>R² of the power-law fit</a:t>
            </a:r>
            <a:endParaRPr lang="en-US" sz="1100" dirty="0"/>
          </a:p>
        </p:txBody>
      </p:sp>
      <p:sp>
        <p:nvSpPr>
          <p:cNvPr id="10" name="Text 7"/>
          <p:cNvSpPr/>
          <p:nvPr/>
        </p:nvSpPr>
        <p:spPr>
          <a:xfrm>
            <a:off x="3977640" y="4370832"/>
            <a:ext cx="1645920" cy="566928"/>
          </a:xfrm>
          <a:prstGeom prst="rect">
            <a:avLst/>
          </a:prstGeom>
          <a:noFill/>
          <a:ln/>
        </p:spPr>
        <p:txBody>
          <a:bodyPr wrap="none" lIns="0" tIns="0" rIns="0" bIns="0" rtlCol="0" anchor="ctr"/>
          <a:lstStyle/>
          <a:p>
            <a:pPr algn="ctr" indent="0" marL="0">
              <a:buNone/>
            </a:pPr>
            <a:r>
              <a:rPr lang="en-US" sz="2700" b="1" dirty="0">
                <a:solidFill>
                  <a:srgbClr val="1F6F7A"/>
                </a:solidFill>
                <a:latin typeface="Cambria" pitchFamily="34" charset="0"/>
                <a:ea typeface="Cambria" pitchFamily="34" charset="-122"/>
                <a:cs typeface="Cambria" pitchFamily="34" charset="-120"/>
              </a:rPr>
              <a:t>0.9913</a:t>
            </a:r>
            <a:endParaRPr lang="en-US" sz="2700" dirty="0"/>
          </a:p>
        </p:txBody>
      </p:sp>
      <p:sp>
        <p:nvSpPr>
          <p:cNvPr id="11" name="Text 8"/>
          <p:cNvSpPr/>
          <p:nvPr/>
        </p:nvSpPr>
        <p:spPr>
          <a:xfrm>
            <a:off x="3977640" y="4919472"/>
            <a:ext cx="1645920" cy="566928"/>
          </a:xfrm>
          <a:prstGeom prst="rect">
            <a:avLst/>
          </a:prstGeom>
          <a:noFill/>
          <a:ln/>
        </p:spPr>
        <p:txBody>
          <a:bodyPr wrap="square" lIns="0" tIns="0" rIns="0" bIns="0" rtlCol="0" anchor="t"/>
          <a:lstStyle/>
          <a:p>
            <a:pPr algn="ctr" indent="0" marL="0">
              <a:buNone/>
            </a:pPr>
            <a:r>
              <a:rPr lang="en-US" sz="1100" dirty="0">
                <a:solidFill>
                  <a:srgbClr val="6E7687"/>
                </a:solidFill>
                <a:latin typeface="Calibri" pitchFamily="34" charset="0"/>
                <a:ea typeface="Calibri" pitchFamily="34" charset="-122"/>
                <a:cs typeface="Calibri" pitchFamily="34" charset="-120"/>
              </a:rPr>
              <a:t>APDS9960 cross-check r</a:t>
            </a:r>
            <a:endParaRPr lang="en-US" sz="1100" dirty="0"/>
          </a:p>
        </p:txBody>
      </p:sp>
      <p:sp>
        <p:nvSpPr>
          <p:cNvPr id="12" name="Text 9"/>
          <p:cNvSpPr/>
          <p:nvPr/>
        </p:nvSpPr>
        <p:spPr>
          <a:xfrm>
            <a:off x="5715000" y="4370832"/>
            <a:ext cx="1645920" cy="566928"/>
          </a:xfrm>
          <a:prstGeom prst="rect">
            <a:avLst/>
          </a:prstGeom>
          <a:noFill/>
          <a:ln/>
        </p:spPr>
        <p:txBody>
          <a:bodyPr wrap="none" lIns="0" tIns="0" rIns="0" bIns="0" rtlCol="0" anchor="ctr"/>
          <a:lstStyle/>
          <a:p>
            <a:pPr algn="ctr" indent="0" marL="0">
              <a:buNone/>
            </a:pPr>
            <a:r>
              <a:rPr lang="en-US" sz="2700" b="1" dirty="0">
                <a:solidFill>
                  <a:srgbClr val="1F6F7A"/>
                </a:solidFill>
                <a:latin typeface="Cambria" pitchFamily="34" charset="0"/>
                <a:ea typeface="Cambria" pitchFamily="34" charset="-122"/>
                <a:cs typeface="Cambria" pitchFamily="34" charset="-120"/>
              </a:rPr>
              <a:t>7.2 mm</a:t>
            </a:r>
            <a:endParaRPr lang="en-US" sz="2700" dirty="0"/>
          </a:p>
        </p:txBody>
      </p:sp>
      <p:sp>
        <p:nvSpPr>
          <p:cNvPr id="13" name="Text 10"/>
          <p:cNvSpPr/>
          <p:nvPr/>
        </p:nvSpPr>
        <p:spPr>
          <a:xfrm>
            <a:off x="5715000" y="4919472"/>
            <a:ext cx="1645920" cy="566928"/>
          </a:xfrm>
          <a:prstGeom prst="rect">
            <a:avLst/>
          </a:prstGeom>
          <a:noFill/>
          <a:ln/>
        </p:spPr>
        <p:txBody>
          <a:bodyPr wrap="square" lIns="0" tIns="0" rIns="0" bIns="0" rtlCol="0" anchor="t"/>
          <a:lstStyle/>
          <a:p>
            <a:pPr algn="ctr" indent="0" marL="0">
              <a:buNone/>
            </a:pPr>
            <a:r>
              <a:rPr lang="en-US" sz="1100" dirty="0">
                <a:solidFill>
                  <a:srgbClr val="6E7687"/>
                </a:solidFill>
                <a:latin typeface="Calibri" pitchFamily="34" charset="0"/>
                <a:ea typeface="Calibri" pitchFamily="34" charset="-122"/>
                <a:cs typeface="Calibri" pitchFamily="34" charset="-120"/>
              </a:rPr>
              <a:t>ultrasonic RMSE ≤160 cm</a:t>
            </a:r>
            <a:endParaRPr lang="en-US" sz="1100" dirty="0"/>
          </a:p>
        </p:txBody>
      </p:sp>
      <p:sp>
        <p:nvSpPr>
          <p:cNvPr id="14" name="Shape 11"/>
          <p:cNvSpPr/>
          <p:nvPr/>
        </p:nvSpPr>
        <p:spPr>
          <a:xfrm>
            <a:off x="7452360" y="1481328"/>
            <a:ext cx="4187952" cy="2331720"/>
          </a:xfrm>
          <a:prstGeom prst="roundRect">
            <a:avLst>
              <a:gd name="adj" fmla="val 3137"/>
            </a:avLst>
          </a:prstGeom>
          <a:solidFill>
            <a:srgbClr val="F3F5F9"/>
          </a:solidFill>
          <a:ln w="12700">
            <a:solidFill>
              <a:srgbClr val="F3F5F9"/>
            </a:solidFill>
            <a:prstDash val="solid"/>
          </a:ln>
        </p:spPr>
      </p:sp>
      <p:sp>
        <p:nvSpPr>
          <p:cNvPr id="15" name="Text 12"/>
          <p:cNvSpPr/>
          <p:nvPr/>
        </p:nvSpPr>
        <p:spPr>
          <a:xfrm>
            <a:off x="7653528" y="1627632"/>
            <a:ext cx="3785616" cy="310896"/>
          </a:xfrm>
          <a:prstGeom prst="rect">
            <a:avLst/>
          </a:prstGeom>
          <a:noFill/>
          <a:ln/>
        </p:spPr>
        <p:txBody>
          <a:bodyPr wrap="square" lIns="0" tIns="0" rIns="0" bIns="0" rtlCol="0" anchor="ctr"/>
          <a:lstStyle/>
          <a:p>
            <a:pPr indent="0" marL="0">
              <a:buNone/>
            </a:pPr>
            <a:r>
              <a:rPr lang="en-US" sz="1400" b="1" dirty="0">
                <a:solidFill>
                  <a:srgbClr val="1F6F7A"/>
                </a:solidFill>
                <a:latin typeface="Calibri" pitchFamily="34" charset="0"/>
                <a:ea typeface="Calibri" pitchFamily="34" charset="-122"/>
                <a:cs typeface="Calibri" pitchFamily="34" charset="-120"/>
              </a:rPr>
              <a:t>Ambient is fitted, not assumed</a:t>
            </a:r>
            <a:endParaRPr lang="en-US" sz="1400" dirty="0"/>
          </a:p>
        </p:txBody>
      </p:sp>
      <p:sp>
        <p:nvSpPr>
          <p:cNvPr id="16" name="Text 13"/>
          <p:cNvSpPr/>
          <p:nvPr/>
        </p:nvSpPr>
        <p:spPr>
          <a:xfrm>
            <a:off x="7653528" y="1956816"/>
            <a:ext cx="3785616" cy="1691640"/>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A lamp-off reading at every distance gives the room's own contribution, subtracted in the resistance domain — counts are non-linear in illuminance, so subtracting counts would subtract the wrong quantity.</a:t>
            </a:r>
            <a:endParaRPr lang="en-US" sz="1200" dirty="0"/>
          </a:p>
        </p:txBody>
      </p:sp>
      <p:sp>
        <p:nvSpPr>
          <p:cNvPr id="17" name="Shape 14"/>
          <p:cNvSpPr/>
          <p:nvPr/>
        </p:nvSpPr>
        <p:spPr>
          <a:xfrm>
            <a:off x="7452360" y="4041648"/>
            <a:ext cx="4187952" cy="2313432"/>
          </a:xfrm>
          <a:prstGeom prst="roundRect">
            <a:avLst>
              <a:gd name="adj" fmla="val 3162"/>
            </a:avLst>
          </a:prstGeom>
          <a:solidFill>
            <a:srgbClr val="F3F5F9"/>
          </a:solidFill>
          <a:ln w="12700">
            <a:solidFill>
              <a:srgbClr val="F3F5F9"/>
            </a:solidFill>
            <a:prstDash val="solid"/>
          </a:ln>
        </p:spPr>
      </p:sp>
      <p:sp>
        <p:nvSpPr>
          <p:cNvPr id="18" name="Text 15"/>
          <p:cNvSpPr/>
          <p:nvPr/>
        </p:nvSpPr>
        <p:spPr>
          <a:xfrm>
            <a:off x="7653528" y="4187952"/>
            <a:ext cx="3785616" cy="310896"/>
          </a:xfrm>
          <a:prstGeom prst="rect">
            <a:avLst/>
          </a:prstGeom>
          <a:noFill/>
          <a:ln/>
        </p:spPr>
        <p:txBody>
          <a:bodyPr wrap="square" lIns="0" tIns="0" rIns="0" bIns="0" rtlCol="0" anchor="ctr"/>
          <a:lstStyle/>
          <a:p>
            <a:pPr indent="0" marL="0">
              <a:buNone/>
            </a:pPr>
            <a:r>
              <a:rPr lang="en-US" sz="1400" b="1" dirty="0">
                <a:solidFill>
                  <a:srgbClr val="B3453B"/>
                </a:solidFill>
                <a:latin typeface="Calibri" pitchFamily="34" charset="0"/>
                <a:ea typeface="Calibri" pitchFamily="34" charset="-122"/>
                <a:cs typeface="Calibri" pitchFamily="34" charset="-120"/>
              </a:rPr>
              <a:t>A measurement, not a convenience</a:t>
            </a:r>
            <a:endParaRPr lang="en-US" sz="1400" dirty="0"/>
          </a:p>
        </p:txBody>
      </p:sp>
      <p:sp>
        <p:nvSpPr>
          <p:cNvPr id="19" name="Text 16"/>
          <p:cNvSpPr/>
          <p:nvPr/>
        </p:nvSpPr>
        <p:spPr>
          <a:xfrm>
            <a:off x="7653528" y="4517136"/>
            <a:ext cx="3785616" cy="1673352"/>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One point at 200 cm read 134 mm long while every other read 1–22 mm short. The beam cone is 527 mm wide there against a 200 mm target, so the echo came off the wall behind. It is auto-flagged and excluded, and the report shows it rather than hiding it.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Preprocessing and features</a:t>
            </a:r>
            <a:endParaRPr lang="en-US" sz="34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indent="0" marL="0">
              <a:buNone/>
            </a:pPr>
            <a:r>
              <a:rPr lang="en-US" sz="1400" dirty="0">
                <a:solidFill>
                  <a:srgbClr val="6E7687"/>
                </a:solidFill>
                <a:latin typeface="Calibri" pitchFamily="34" charset="0"/>
                <a:ea typeface="Calibri" pitchFamily="34" charset="-122"/>
                <a:cs typeface="Calibri" pitchFamily="34" charset="-120"/>
              </a:rPr>
              <a:t>Two channels, ten samples, eight numbers</a:t>
            </a:r>
            <a:endParaRPr lang="en-US" sz="1400" dirty="0"/>
          </a:p>
        </p:txBody>
      </p:sp>
      <p:sp>
        <p:nvSpPr>
          <p:cNvPr id="4" name="Shape 2"/>
          <p:cNvSpPr/>
          <p:nvPr/>
        </p:nvSpPr>
        <p:spPr>
          <a:xfrm>
            <a:off x="548640" y="1536192"/>
            <a:ext cx="3520440" cy="2240280"/>
          </a:xfrm>
          <a:prstGeom prst="roundRect">
            <a:avLst>
              <a:gd name="adj" fmla="val 3265"/>
            </a:avLst>
          </a:prstGeom>
          <a:solidFill>
            <a:srgbClr val="F3F5F9"/>
          </a:solidFill>
          <a:ln w="12700">
            <a:solidFill>
              <a:srgbClr val="F3F5F9"/>
            </a:solidFill>
            <a:prstDash val="solid"/>
          </a:ln>
        </p:spPr>
      </p:sp>
      <p:sp>
        <p:nvSpPr>
          <p:cNvPr id="5" name="Text 3"/>
          <p:cNvSpPr/>
          <p:nvPr/>
        </p:nvSpPr>
        <p:spPr>
          <a:xfrm>
            <a:off x="749808" y="1682496"/>
            <a:ext cx="3118104" cy="310896"/>
          </a:xfrm>
          <a:prstGeom prst="rect">
            <a:avLst/>
          </a:prstGeom>
          <a:noFill/>
          <a:ln/>
        </p:spPr>
        <p:txBody>
          <a:bodyPr wrap="square" lIns="0" tIns="0" rIns="0" bIns="0" rtlCol="0" anchor="ctr"/>
          <a:lstStyle/>
          <a:p>
            <a:pPr indent="0" marL="0">
              <a:buNone/>
            </a:pPr>
            <a:r>
              <a:rPr lang="en-US" sz="1400" b="1" dirty="0">
                <a:solidFill>
                  <a:srgbClr val="1F6F7A"/>
                </a:solidFill>
                <a:latin typeface="Calibri" pitchFamily="34" charset="0"/>
                <a:ea typeface="Calibri" pitchFamily="34" charset="-122"/>
                <a:cs typeface="Calibri" pitchFamily="34" charset="-120"/>
              </a:rPr>
              <a:t>Windowing</a:t>
            </a:r>
            <a:endParaRPr lang="en-US" sz="1400" dirty="0"/>
          </a:p>
        </p:txBody>
      </p:sp>
      <p:sp>
        <p:nvSpPr>
          <p:cNvPr id="6" name="Text 4"/>
          <p:cNvSpPr/>
          <p:nvPr/>
        </p:nvSpPr>
        <p:spPr>
          <a:xfrm>
            <a:off x="749808" y="2011680"/>
            <a:ext cx="3118104" cy="1600200"/>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10 samples at 8 Hz = 1.25 s, 50% overlap (stride 5). Long enough to average out a bad echo, short enough that the operator is not left waiting.</a:t>
            </a:r>
            <a:endParaRPr lang="en-US" sz="1200" dirty="0"/>
          </a:p>
        </p:txBody>
      </p:sp>
      <p:sp>
        <p:nvSpPr>
          <p:cNvPr id="7" name="Shape 5"/>
          <p:cNvSpPr/>
          <p:nvPr/>
        </p:nvSpPr>
        <p:spPr>
          <a:xfrm>
            <a:off x="4224528" y="1536192"/>
            <a:ext cx="3520440" cy="2240280"/>
          </a:xfrm>
          <a:prstGeom prst="roundRect">
            <a:avLst>
              <a:gd name="adj" fmla="val 3265"/>
            </a:avLst>
          </a:prstGeom>
          <a:solidFill>
            <a:srgbClr val="F3F5F9"/>
          </a:solidFill>
          <a:ln w="12700">
            <a:solidFill>
              <a:srgbClr val="F3F5F9"/>
            </a:solidFill>
            <a:prstDash val="solid"/>
          </a:ln>
        </p:spPr>
      </p:sp>
      <p:sp>
        <p:nvSpPr>
          <p:cNvPr id="8" name="Text 6"/>
          <p:cNvSpPr/>
          <p:nvPr/>
        </p:nvSpPr>
        <p:spPr>
          <a:xfrm>
            <a:off x="4425696" y="1682496"/>
            <a:ext cx="3118104" cy="310896"/>
          </a:xfrm>
          <a:prstGeom prst="rect">
            <a:avLst/>
          </a:prstGeom>
          <a:noFill/>
          <a:ln/>
        </p:spPr>
        <p:txBody>
          <a:bodyPr wrap="square" lIns="0" tIns="0" rIns="0" bIns="0" rtlCol="0" anchor="ctr"/>
          <a:lstStyle/>
          <a:p>
            <a:pPr indent="0" marL="0">
              <a:buNone/>
            </a:pPr>
            <a:r>
              <a:rPr lang="en-US" sz="1400" b="1" dirty="0">
                <a:solidFill>
                  <a:srgbClr val="E08A2E"/>
                </a:solidFill>
                <a:latin typeface="Calibri" pitchFamily="34" charset="0"/>
                <a:ea typeface="Calibri" pitchFamily="34" charset="-122"/>
                <a:cs typeface="Calibri" pitchFamily="34" charset="-120"/>
              </a:rPr>
              <a:t>Deviations, not absolutes</a:t>
            </a:r>
            <a:endParaRPr lang="en-US" sz="1400" dirty="0"/>
          </a:p>
        </p:txBody>
      </p:sp>
      <p:sp>
        <p:nvSpPr>
          <p:cNvPr id="9" name="Text 7"/>
          <p:cNvSpPr/>
          <p:nvPr/>
        </p:nvSpPr>
        <p:spPr>
          <a:xfrm>
            <a:off x="4425696" y="2011680"/>
            <a:ext cx="3118104" cy="1600200"/>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Both channels are stored as a difference from the saved reference: d_dist_mm and d_ldr. The model learns how far off the rig is, not where it happens to be standing.</a:t>
            </a:r>
            <a:endParaRPr lang="en-US" sz="1200" dirty="0"/>
          </a:p>
        </p:txBody>
      </p:sp>
      <p:sp>
        <p:nvSpPr>
          <p:cNvPr id="10" name="Shape 8"/>
          <p:cNvSpPr/>
          <p:nvPr/>
        </p:nvSpPr>
        <p:spPr>
          <a:xfrm>
            <a:off x="7891272" y="1536192"/>
            <a:ext cx="3749040" cy="2240280"/>
          </a:xfrm>
          <a:prstGeom prst="roundRect">
            <a:avLst>
              <a:gd name="adj" fmla="val 3265"/>
            </a:avLst>
          </a:prstGeom>
          <a:solidFill>
            <a:srgbClr val="F3F5F9"/>
          </a:solidFill>
          <a:ln w="12700">
            <a:solidFill>
              <a:srgbClr val="F3F5F9"/>
            </a:solidFill>
            <a:prstDash val="solid"/>
          </a:ln>
        </p:spPr>
      </p:sp>
      <p:sp>
        <p:nvSpPr>
          <p:cNvPr id="11" name="Text 9"/>
          <p:cNvSpPr/>
          <p:nvPr/>
        </p:nvSpPr>
        <p:spPr>
          <a:xfrm>
            <a:off x="8092440" y="1682496"/>
            <a:ext cx="3346704" cy="310896"/>
          </a:xfrm>
          <a:prstGeom prst="rect">
            <a:avLst/>
          </a:prstGeom>
          <a:noFill/>
          <a:ln/>
        </p:spPr>
        <p:txBody>
          <a:bodyPr wrap="square" lIns="0" tIns="0" rIns="0" bIns="0" rtlCol="0" anchor="ctr"/>
          <a:lstStyle/>
          <a:p>
            <a:pPr indent="0" marL="0">
              <a:buNone/>
            </a:pPr>
            <a:r>
              <a:rPr lang="en-US" sz="1400" b="1" dirty="0">
                <a:solidFill>
                  <a:srgbClr val="1F6F7A"/>
                </a:solidFill>
                <a:latin typeface="Calibri" pitchFamily="34" charset="0"/>
                <a:ea typeface="Calibri" pitchFamily="34" charset="-122"/>
                <a:cs typeface="Calibri" pitchFamily="34" charset="-120"/>
              </a:rPr>
              <a:t>Eight features</a:t>
            </a:r>
            <a:endParaRPr lang="en-US" sz="1400" dirty="0"/>
          </a:p>
        </p:txBody>
      </p:sp>
      <p:sp>
        <p:nvSpPr>
          <p:cNvPr id="12" name="Text 10"/>
          <p:cNvSpPr/>
          <p:nvPr/>
        </p:nvSpPr>
        <p:spPr>
          <a:xfrm>
            <a:off x="8092440" y="2011680"/>
            <a:ext cx="3346704" cy="1600200"/>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mean, std, min, max — for each of the two channels. Chosen to be computable in a single pass on-device with no buffering beyond the window itself.</a:t>
            </a:r>
            <a:endParaRPr lang="en-US" sz="1200" dirty="0"/>
          </a:p>
        </p:txBody>
      </p:sp>
      <p:sp>
        <p:nvSpPr>
          <p:cNvPr id="13" name="Shape 11"/>
          <p:cNvSpPr/>
          <p:nvPr/>
        </p:nvSpPr>
        <p:spPr>
          <a:xfrm>
            <a:off x="548640" y="4041648"/>
            <a:ext cx="5532120" cy="2304288"/>
          </a:xfrm>
          <a:prstGeom prst="roundRect">
            <a:avLst>
              <a:gd name="adj" fmla="val 3175"/>
            </a:avLst>
          </a:prstGeom>
          <a:solidFill>
            <a:srgbClr val="F3F5F9"/>
          </a:solidFill>
          <a:ln w="12700">
            <a:solidFill>
              <a:srgbClr val="F3F5F9"/>
            </a:solidFill>
            <a:prstDash val="solid"/>
          </a:ln>
        </p:spPr>
      </p:sp>
      <p:sp>
        <p:nvSpPr>
          <p:cNvPr id="14" name="Text 12"/>
          <p:cNvSpPr/>
          <p:nvPr/>
        </p:nvSpPr>
        <p:spPr>
          <a:xfrm>
            <a:off x="749808" y="4187952"/>
            <a:ext cx="5129784" cy="310896"/>
          </a:xfrm>
          <a:prstGeom prst="rect">
            <a:avLst/>
          </a:prstGeom>
          <a:noFill/>
          <a:ln/>
        </p:spPr>
        <p:txBody>
          <a:bodyPr wrap="square" lIns="0" tIns="0" rIns="0" bIns="0" rtlCol="0" anchor="ctr"/>
          <a:lstStyle/>
          <a:p>
            <a:pPr indent="0" marL="0">
              <a:buNone/>
            </a:pPr>
            <a:r>
              <a:rPr lang="en-US" sz="1400" b="1" dirty="0">
                <a:solidFill>
                  <a:srgbClr val="B3453B"/>
                </a:solidFill>
                <a:latin typeface="Calibri" pitchFamily="34" charset="0"/>
                <a:ea typeface="Calibri" pitchFamily="34" charset="-122"/>
                <a:cs typeface="Calibri" pitchFamily="34" charset="-120"/>
              </a:rPr>
              <a:t>Leakage avoided at every step</a:t>
            </a:r>
            <a:endParaRPr lang="en-US" sz="1400" dirty="0"/>
          </a:p>
        </p:txBody>
      </p:sp>
      <p:sp>
        <p:nvSpPr>
          <p:cNvPr id="15" name="Text 13"/>
          <p:cNvSpPr/>
          <p:nvPr/>
        </p:nvSpPr>
        <p:spPr>
          <a:xfrm>
            <a:off x="749808" y="4517136"/>
            <a:ext cx="5129784" cy="1664208"/>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The scaler is fitted on training data only and frozen before it ever touches the test session. Cross-validation is grouped by run, so no two windows from the same run can land on opposite sides of a fold.</a:t>
            </a:r>
            <a:endParaRPr lang="en-US" sz="1200" dirty="0"/>
          </a:p>
        </p:txBody>
      </p:sp>
      <p:sp>
        <p:nvSpPr>
          <p:cNvPr id="16" name="Shape 14"/>
          <p:cNvSpPr/>
          <p:nvPr/>
        </p:nvSpPr>
        <p:spPr>
          <a:xfrm>
            <a:off x="6281928" y="4041648"/>
            <a:ext cx="5358384" cy="2304288"/>
          </a:xfrm>
          <a:prstGeom prst="roundRect">
            <a:avLst>
              <a:gd name="adj" fmla="val 3175"/>
            </a:avLst>
          </a:prstGeom>
          <a:solidFill>
            <a:srgbClr val="F3F5F9"/>
          </a:solidFill>
          <a:ln w="12700">
            <a:solidFill>
              <a:srgbClr val="F3F5F9"/>
            </a:solidFill>
            <a:prstDash val="solid"/>
          </a:ln>
        </p:spPr>
      </p:sp>
      <p:sp>
        <p:nvSpPr>
          <p:cNvPr id="17" name="Text 15"/>
          <p:cNvSpPr/>
          <p:nvPr/>
        </p:nvSpPr>
        <p:spPr>
          <a:xfrm>
            <a:off x="6483096" y="4187952"/>
            <a:ext cx="4956048" cy="310896"/>
          </a:xfrm>
          <a:prstGeom prst="rect">
            <a:avLst/>
          </a:prstGeom>
          <a:noFill/>
          <a:ln/>
        </p:spPr>
        <p:txBody>
          <a:bodyPr wrap="square" lIns="0" tIns="0" rIns="0" bIns="0" rtlCol="0" anchor="ctr"/>
          <a:lstStyle/>
          <a:p>
            <a:pPr indent="0" marL="0">
              <a:buNone/>
            </a:pPr>
            <a:r>
              <a:rPr lang="en-US" sz="1400" b="1" dirty="0">
                <a:solidFill>
                  <a:srgbClr val="141A2E"/>
                </a:solidFill>
                <a:latin typeface="Calibri" pitchFamily="34" charset="0"/>
                <a:ea typeface="Calibri" pitchFamily="34" charset="-122"/>
                <a:cs typeface="Calibri" pitchFamily="34" charset="-120"/>
              </a:rPr>
              <a:t>Readings the model was never trained on are refused</a:t>
            </a:r>
            <a:endParaRPr lang="en-US" sz="1400" dirty="0"/>
          </a:p>
        </p:txBody>
      </p:sp>
      <p:sp>
        <p:nvSpPr>
          <p:cNvPr id="18" name="Text 16"/>
          <p:cNvSpPr/>
          <p:nvPr/>
        </p:nvSpPr>
        <p:spPr>
          <a:xfrm>
            <a:off x="6483096" y="4517136"/>
            <a:ext cx="4956048" cy="1664208"/>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A failed echo was dropped from the dataset rather than interpolated, so the firmware also refuses to push one into the classifier. The device shows the channel as unread instead of inventing a value — the training and deployment paths make the same choice.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Four modelling approaches, and why each</a:t>
            </a:r>
            <a:endParaRPr lang="en-US" sz="34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indent="0" marL="0">
              <a:buNone/>
            </a:pPr>
            <a:r>
              <a:rPr lang="en-US" sz="1400" dirty="0">
                <a:solidFill>
                  <a:srgbClr val="6E7687"/>
                </a:solidFill>
                <a:latin typeface="Calibri" pitchFamily="34" charset="0"/>
                <a:ea typeface="Calibri" pitchFamily="34" charset="-122"/>
                <a:cs typeface="Calibri" pitchFamily="34" charset="-120"/>
              </a:rPr>
              <a:t>Nothing was tuned to flatter one side</a:t>
            </a:r>
            <a:endParaRPr lang="en-US" sz="1400" dirty="0"/>
          </a:p>
        </p:txBody>
      </p:sp>
      <p:sp>
        <p:nvSpPr>
          <p:cNvPr id="4" name="Shape 2"/>
          <p:cNvSpPr/>
          <p:nvPr/>
        </p:nvSpPr>
        <p:spPr>
          <a:xfrm>
            <a:off x="548640" y="1536192"/>
            <a:ext cx="5532120" cy="2304288"/>
          </a:xfrm>
          <a:prstGeom prst="roundRect">
            <a:avLst>
              <a:gd name="adj" fmla="val 3175"/>
            </a:avLst>
          </a:prstGeom>
          <a:solidFill>
            <a:srgbClr val="F3F5F9"/>
          </a:solidFill>
          <a:ln w="12700">
            <a:solidFill>
              <a:srgbClr val="F3F5F9"/>
            </a:solidFill>
            <a:prstDash val="solid"/>
          </a:ln>
        </p:spPr>
      </p:sp>
      <p:sp>
        <p:nvSpPr>
          <p:cNvPr id="5" name="Text 3"/>
          <p:cNvSpPr/>
          <p:nvPr/>
        </p:nvSpPr>
        <p:spPr>
          <a:xfrm>
            <a:off x="749808" y="1682496"/>
            <a:ext cx="5129784" cy="310896"/>
          </a:xfrm>
          <a:prstGeom prst="rect">
            <a:avLst/>
          </a:prstGeom>
          <a:noFill/>
          <a:ln/>
        </p:spPr>
        <p:txBody>
          <a:bodyPr wrap="square" lIns="0" tIns="0" rIns="0" bIns="0" rtlCol="0" anchor="ctr"/>
          <a:lstStyle/>
          <a:p>
            <a:pPr indent="0" marL="0">
              <a:buNone/>
            </a:pPr>
            <a:r>
              <a:rPr lang="en-US" sz="1400" b="1" dirty="0">
                <a:solidFill>
                  <a:srgbClr val="1F6F7A"/>
                </a:solidFill>
                <a:latin typeface="Calibri" pitchFamily="34" charset="0"/>
                <a:ea typeface="Calibri" pitchFamily="34" charset="-122"/>
                <a:cs typeface="Calibri" pitchFamily="34" charset="-120"/>
              </a:rPr>
              <a:t>M0  Classical baselines</a:t>
            </a:r>
            <a:endParaRPr lang="en-US" sz="1400" dirty="0"/>
          </a:p>
        </p:txBody>
      </p:sp>
      <p:sp>
        <p:nvSpPr>
          <p:cNvPr id="6" name="Text 4"/>
          <p:cNvSpPr/>
          <p:nvPr/>
        </p:nvSpPr>
        <p:spPr>
          <a:xfrm>
            <a:off x="749808" y="2011680"/>
            <a:ext cx="5129784" cy="1664208"/>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Decision tree, k-NN, logistic regression, random forest. A tree is interpretable and its split thresholds can be checked against the physical tolerances — when they agree, that is independent evidence the dataset is sane.</a:t>
            </a:r>
            <a:endParaRPr lang="en-US" sz="1200" dirty="0"/>
          </a:p>
        </p:txBody>
      </p:sp>
      <p:sp>
        <p:nvSpPr>
          <p:cNvPr id="7" name="Shape 5"/>
          <p:cNvSpPr/>
          <p:nvPr/>
        </p:nvSpPr>
        <p:spPr>
          <a:xfrm>
            <a:off x="6355080" y="1536192"/>
            <a:ext cx="5532120" cy="2304288"/>
          </a:xfrm>
          <a:prstGeom prst="roundRect">
            <a:avLst>
              <a:gd name="adj" fmla="val 3175"/>
            </a:avLst>
          </a:prstGeom>
          <a:solidFill>
            <a:srgbClr val="F3F5F9"/>
          </a:solidFill>
          <a:ln w="12700">
            <a:solidFill>
              <a:srgbClr val="F3F5F9"/>
            </a:solidFill>
            <a:prstDash val="solid"/>
          </a:ln>
        </p:spPr>
      </p:sp>
      <p:sp>
        <p:nvSpPr>
          <p:cNvPr id="8" name="Text 6"/>
          <p:cNvSpPr/>
          <p:nvPr/>
        </p:nvSpPr>
        <p:spPr>
          <a:xfrm>
            <a:off x="6556248" y="1682496"/>
            <a:ext cx="5129784" cy="310896"/>
          </a:xfrm>
          <a:prstGeom prst="rect">
            <a:avLst/>
          </a:prstGeom>
          <a:noFill/>
          <a:ln/>
        </p:spPr>
        <p:txBody>
          <a:bodyPr wrap="square" lIns="0" tIns="0" rIns="0" bIns="0" rtlCol="0" anchor="ctr"/>
          <a:lstStyle/>
          <a:p>
            <a:pPr indent="0" marL="0">
              <a:buNone/>
            </a:pPr>
            <a:r>
              <a:rPr lang="en-US" sz="1400" b="1" dirty="0">
                <a:solidFill>
                  <a:srgbClr val="141A2E"/>
                </a:solidFill>
                <a:latin typeface="Calibri" pitchFamily="34" charset="0"/>
                <a:ea typeface="Calibri" pitchFamily="34" charset="-122"/>
                <a:cs typeface="Calibri" pitchFamily="34" charset="-120"/>
              </a:rPr>
              <a:t>M1  MLP (32-16)</a:t>
            </a:r>
            <a:endParaRPr lang="en-US" sz="1400" dirty="0"/>
          </a:p>
        </p:txBody>
      </p:sp>
      <p:sp>
        <p:nvSpPr>
          <p:cNvPr id="9" name="Text 7"/>
          <p:cNvSpPr/>
          <p:nvPr/>
        </p:nvSpPr>
        <p:spPr>
          <a:xfrm>
            <a:off x="6556248" y="2011680"/>
            <a:ext cx="5129784" cy="1664208"/>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The obvious neural baseline on the same 8 features. Tests whether a learned non-linear boundary beats an axis-aligned one on this problem.</a:t>
            </a:r>
            <a:endParaRPr lang="en-US" sz="1200" dirty="0"/>
          </a:p>
        </p:txBody>
      </p:sp>
      <p:sp>
        <p:nvSpPr>
          <p:cNvPr id="10" name="Shape 8"/>
          <p:cNvSpPr/>
          <p:nvPr/>
        </p:nvSpPr>
        <p:spPr>
          <a:xfrm>
            <a:off x="548640" y="4023360"/>
            <a:ext cx="5532120" cy="2304288"/>
          </a:xfrm>
          <a:prstGeom prst="roundRect">
            <a:avLst>
              <a:gd name="adj" fmla="val 3175"/>
            </a:avLst>
          </a:prstGeom>
          <a:solidFill>
            <a:srgbClr val="F3F5F9"/>
          </a:solidFill>
          <a:ln w="12700">
            <a:solidFill>
              <a:srgbClr val="F3F5F9"/>
            </a:solidFill>
            <a:prstDash val="solid"/>
          </a:ln>
        </p:spPr>
      </p:sp>
      <p:sp>
        <p:nvSpPr>
          <p:cNvPr id="11" name="Text 9"/>
          <p:cNvSpPr/>
          <p:nvPr/>
        </p:nvSpPr>
        <p:spPr>
          <a:xfrm>
            <a:off x="749808" y="4169664"/>
            <a:ext cx="5129784" cy="310896"/>
          </a:xfrm>
          <a:prstGeom prst="rect">
            <a:avLst/>
          </a:prstGeom>
          <a:noFill/>
          <a:ln/>
        </p:spPr>
        <p:txBody>
          <a:bodyPr wrap="square" lIns="0" tIns="0" rIns="0" bIns="0" rtlCol="0" anchor="ctr"/>
          <a:lstStyle/>
          <a:p>
            <a:pPr indent="0" marL="0">
              <a:buNone/>
            </a:pPr>
            <a:r>
              <a:rPr lang="en-US" sz="1400" b="1" dirty="0">
                <a:solidFill>
                  <a:srgbClr val="E08A2E"/>
                </a:solidFill>
                <a:latin typeface="Calibri" pitchFamily="34" charset="0"/>
                <a:ea typeface="Calibri" pitchFamily="34" charset="-122"/>
                <a:cs typeface="Calibri" pitchFamily="34" charset="-120"/>
              </a:rPr>
              <a:t>M2  Autoencoder novelty gate</a:t>
            </a:r>
            <a:endParaRPr lang="en-US" sz="1400" dirty="0"/>
          </a:p>
        </p:txBody>
      </p:sp>
      <p:sp>
        <p:nvSpPr>
          <p:cNvPr id="12" name="Text 10"/>
          <p:cNvSpPr/>
          <p:nvPr/>
        </p:nvSpPr>
        <p:spPr>
          <a:xfrm>
            <a:off x="749808" y="4498848"/>
            <a:ext cx="5129784" cy="1664208"/>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Trained on optimal windows only. High reconstruction error means "this is not a setup I recognise", so the device can say UNKNOWN SETUP rather than confidently pick a wrong class.</a:t>
            </a:r>
            <a:endParaRPr lang="en-US" sz="1200" dirty="0"/>
          </a:p>
        </p:txBody>
      </p:sp>
      <p:sp>
        <p:nvSpPr>
          <p:cNvPr id="13" name="Shape 11"/>
          <p:cNvSpPr/>
          <p:nvPr/>
        </p:nvSpPr>
        <p:spPr>
          <a:xfrm>
            <a:off x="6355080" y="4023360"/>
            <a:ext cx="5532120" cy="2304288"/>
          </a:xfrm>
          <a:prstGeom prst="roundRect">
            <a:avLst>
              <a:gd name="adj" fmla="val 3175"/>
            </a:avLst>
          </a:prstGeom>
          <a:solidFill>
            <a:srgbClr val="F3F5F9"/>
          </a:solidFill>
          <a:ln w="12700">
            <a:solidFill>
              <a:srgbClr val="F3F5F9"/>
            </a:solidFill>
            <a:prstDash val="solid"/>
          </a:ln>
        </p:spPr>
      </p:sp>
      <p:sp>
        <p:nvSpPr>
          <p:cNvPr id="14" name="Text 12"/>
          <p:cNvSpPr/>
          <p:nvPr/>
        </p:nvSpPr>
        <p:spPr>
          <a:xfrm>
            <a:off x="6556248" y="4169664"/>
            <a:ext cx="5129784" cy="310896"/>
          </a:xfrm>
          <a:prstGeom prst="rect">
            <a:avLst/>
          </a:prstGeom>
          <a:noFill/>
          <a:ln/>
        </p:spPr>
        <p:txBody>
          <a:bodyPr wrap="square" lIns="0" tIns="0" rIns="0" bIns="0" rtlCol="0" anchor="ctr"/>
          <a:lstStyle/>
          <a:p>
            <a:pPr indent="0" marL="0">
              <a:buNone/>
            </a:pPr>
            <a:r>
              <a:rPr lang="en-US" sz="1400" b="1" dirty="0">
                <a:solidFill>
                  <a:srgbClr val="1F6F7A"/>
                </a:solidFill>
                <a:latin typeface="Calibri" pitchFamily="34" charset="0"/>
                <a:ea typeface="Calibri" pitchFamily="34" charset="-122"/>
                <a:cs typeface="Calibri" pitchFamily="34" charset="-120"/>
              </a:rPr>
              <a:t>M3  Sequence model / Edge Impulse</a:t>
            </a:r>
            <a:endParaRPr lang="en-US" sz="1400" dirty="0"/>
          </a:p>
        </p:txBody>
      </p:sp>
      <p:sp>
        <p:nvSpPr>
          <p:cNvPr id="15" name="Text 13"/>
          <p:cNvSpPr/>
          <p:nvPr/>
        </p:nvSpPr>
        <p:spPr>
          <a:xfrm>
            <a:off x="6556248" y="4498848"/>
            <a:ext cx="5129784" cy="1664208"/>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Same windows, same splits — but 20 raw timestep values instead of 8 summary statistics, trained as an INT8 TFLM network in Edge Impulse.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Validation and deployment</a:t>
            </a:r>
            <a:endParaRPr lang="en-US" sz="34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indent="0" marL="0">
              <a:buNone/>
            </a:pPr>
            <a:r>
              <a:rPr lang="en-US" sz="1400" dirty="0">
                <a:solidFill>
                  <a:srgbClr val="6E7687"/>
                </a:solidFill>
                <a:latin typeface="Calibri" pitchFamily="34" charset="0"/>
                <a:ea typeface="Calibri" pitchFamily="34" charset="-122"/>
                <a:cs typeface="Calibri" pitchFamily="34" charset="-120"/>
              </a:rPr>
              <a:t>Grouped 5-fold CV, a held-out session, and a footprint measured rather than estimated</a:t>
            </a:r>
            <a:endParaRPr lang="en-US" sz="1400" dirty="0"/>
          </a:p>
        </p:txBody>
      </p:sp>
      <p:sp>
        <p:nvSpPr>
          <p:cNvPr id="4" name="Text 2"/>
          <p:cNvSpPr/>
          <p:nvPr/>
        </p:nvSpPr>
        <p:spPr>
          <a:xfrm>
            <a:off x="548640" y="1536192"/>
            <a:ext cx="5943600" cy="2606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41A2E"/>
                </a:solidFill>
                <a:latin typeface="Calibri" pitchFamily="34" charset="0"/>
                <a:ea typeface="Calibri" pitchFamily="34" charset="-122"/>
                <a:cs typeface="Calibri" pitchFamily="34" charset="-120"/>
              </a:rPr>
              <a:t>5-fold cross-validation grouped by run; 195 training windows, 104 held-out test windows from session 3.</a:t>
            </a:r>
            <a:endParaRPr lang="en-US" sz="1300" dirty="0"/>
          </a:p>
          <a:p>
            <a:pPr marL="342900" indent="-342900">
              <a:spcAft>
                <a:spcPts val="800"/>
              </a:spcAft>
              <a:buSzPct val="100000"/>
              <a:buChar char="•"/>
            </a:pPr>
            <a:r>
              <a:rPr lang="en-US" sz="1300" dirty="0">
                <a:solidFill>
                  <a:srgbClr val="141A2E"/>
                </a:solidFill>
                <a:latin typeface="Calibri" pitchFamily="34" charset="0"/>
                <a:ea typeface="Calibri" pitchFamily="34" charset="-122"/>
                <a:cs typeface="Calibri" pitchFamily="34" charset="-120"/>
              </a:rPr>
              <a:t>Five seeds per model — the reported spread is real variance, not a single lucky run.</a:t>
            </a:r>
            <a:endParaRPr lang="en-US" sz="1300" dirty="0"/>
          </a:p>
          <a:p>
            <a:pPr marL="342900" indent="-342900">
              <a:spcAft>
                <a:spcPts val="800"/>
              </a:spcAft>
              <a:buSzPct val="100000"/>
              <a:buChar char="•"/>
            </a:pPr>
            <a:r>
              <a:rPr lang="en-US" sz="1300" dirty="0">
                <a:solidFill>
                  <a:srgbClr val="141A2E"/>
                </a:solidFill>
                <a:latin typeface="Calibri" pitchFamily="34" charset="0"/>
                <a:ea typeface="Calibri" pitchFamily="34" charset="-122"/>
                <a:cs typeface="Calibri" pitchFamily="34" charset="-120"/>
              </a:rPr>
              <a:t>Deployed model is the decision tree, exported to model.h as plain C: no library dependency, no tensor arena, no quantisation error.</a:t>
            </a:r>
            <a:endParaRPr lang="en-US" sz="1300" dirty="0"/>
          </a:p>
          <a:p>
            <a:pPr marL="342900" indent="-342900">
              <a:spcAft>
                <a:spcPts val="800"/>
              </a:spcAft>
              <a:buSzPct val="100000"/>
              <a:buChar char="•"/>
            </a:pPr>
            <a:r>
              <a:rPr lang="en-US" sz="1300" dirty="0">
                <a:solidFill>
                  <a:srgbClr val="141A2E"/>
                </a:solidFill>
                <a:latin typeface="Calibri" pitchFamily="34" charset="0"/>
                <a:ea typeface="Calibri" pitchFamily="34" charset="-122"/>
                <a:cs typeface="Calibri" pitchFamily="34" charset="-120"/>
              </a:rPr>
              <a:t>Footprint read from the compiler, not estimated — regenerate with tools/record_footprint.py.</a:t>
            </a:r>
            <a:endParaRPr lang="en-US" sz="1300" dirty="0"/>
          </a:p>
        </p:txBody>
      </p:sp>
      <p:sp>
        <p:nvSpPr>
          <p:cNvPr id="5" name="Text 3"/>
          <p:cNvSpPr/>
          <p:nvPr/>
        </p:nvSpPr>
        <p:spPr>
          <a:xfrm>
            <a:off x="548640" y="4480560"/>
            <a:ext cx="1965960" cy="566928"/>
          </a:xfrm>
          <a:prstGeom prst="rect">
            <a:avLst/>
          </a:prstGeom>
          <a:noFill/>
          <a:ln/>
        </p:spPr>
        <p:txBody>
          <a:bodyPr wrap="none" lIns="0" tIns="0" rIns="0" bIns="0" rtlCol="0" anchor="ctr"/>
          <a:lstStyle/>
          <a:p>
            <a:pPr algn="ctr" indent="0" marL="0">
              <a:buNone/>
            </a:pPr>
            <a:r>
              <a:rPr lang="en-US" sz="2200" b="1" dirty="0">
                <a:solidFill>
                  <a:srgbClr val="1F6F7A"/>
                </a:solidFill>
                <a:latin typeface="Cambria" pitchFamily="34" charset="0"/>
                <a:ea typeface="Cambria" pitchFamily="34" charset="-122"/>
                <a:cs typeface="Cambria" pitchFamily="34" charset="-120"/>
              </a:rPr>
              <a:t>120,896 B</a:t>
            </a:r>
            <a:endParaRPr lang="en-US" sz="2200" dirty="0"/>
          </a:p>
        </p:txBody>
      </p:sp>
      <p:sp>
        <p:nvSpPr>
          <p:cNvPr id="6" name="Text 4"/>
          <p:cNvSpPr/>
          <p:nvPr/>
        </p:nvSpPr>
        <p:spPr>
          <a:xfrm>
            <a:off x="548640" y="5029200"/>
            <a:ext cx="1965960" cy="566928"/>
          </a:xfrm>
          <a:prstGeom prst="rect">
            <a:avLst/>
          </a:prstGeom>
          <a:noFill/>
          <a:ln/>
        </p:spPr>
        <p:txBody>
          <a:bodyPr wrap="square" lIns="0" tIns="0" rIns="0" bIns="0" rtlCol="0" anchor="t"/>
          <a:lstStyle/>
          <a:p>
            <a:pPr algn="ctr" indent="0" marL="0">
              <a:buNone/>
            </a:pPr>
            <a:r>
              <a:rPr lang="en-US" sz="1100" dirty="0">
                <a:solidFill>
                  <a:srgbClr val="6E7687"/>
                </a:solidFill>
                <a:latin typeface="Calibri" pitchFamily="34" charset="0"/>
                <a:ea typeface="Calibri" pitchFamily="34" charset="-122"/>
                <a:cs typeface="Calibri" pitchFamily="34" charset="-120"/>
              </a:rPr>
              <a:t>flash — 12.3% of 983,040</a:t>
            </a:r>
            <a:endParaRPr lang="en-US" sz="1100" dirty="0"/>
          </a:p>
        </p:txBody>
      </p:sp>
      <p:sp>
        <p:nvSpPr>
          <p:cNvPr id="7" name="Text 5"/>
          <p:cNvSpPr/>
          <p:nvPr/>
        </p:nvSpPr>
        <p:spPr>
          <a:xfrm>
            <a:off x="2606040" y="4480560"/>
            <a:ext cx="1965960" cy="566928"/>
          </a:xfrm>
          <a:prstGeom prst="rect">
            <a:avLst/>
          </a:prstGeom>
          <a:noFill/>
          <a:ln/>
        </p:spPr>
        <p:txBody>
          <a:bodyPr wrap="none" lIns="0" tIns="0" rIns="0" bIns="0" rtlCol="0" anchor="ctr"/>
          <a:lstStyle/>
          <a:p>
            <a:pPr algn="ctr" indent="0" marL="0">
              <a:buNone/>
            </a:pPr>
            <a:r>
              <a:rPr lang="en-US" sz="2200" b="1" dirty="0">
                <a:solidFill>
                  <a:srgbClr val="1F6F7A"/>
                </a:solidFill>
                <a:latin typeface="Cambria" pitchFamily="34" charset="0"/>
                <a:ea typeface="Cambria" pitchFamily="34" charset="-122"/>
                <a:cs typeface="Cambria" pitchFamily="34" charset="-120"/>
              </a:rPr>
              <a:t>46,696 B</a:t>
            </a:r>
            <a:endParaRPr lang="en-US" sz="2200" dirty="0"/>
          </a:p>
        </p:txBody>
      </p:sp>
      <p:sp>
        <p:nvSpPr>
          <p:cNvPr id="8" name="Text 6"/>
          <p:cNvSpPr/>
          <p:nvPr/>
        </p:nvSpPr>
        <p:spPr>
          <a:xfrm>
            <a:off x="2606040" y="5029200"/>
            <a:ext cx="1965960" cy="566928"/>
          </a:xfrm>
          <a:prstGeom prst="rect">
            <a:avLst/>
          </a:prstGeom>
          <a:noFill/>
          <a:ln/>
        </p:spPr>
        <p:txBody>
          <a:bodyPr wrap="square" lIns="0" tIns="0" rIns="0" bIns="0" rtlCol="0" anchor="t"/>
          <a:lstStyle/>
          <a:p>
            <a:pPr algn="ctr" indent="0" marL="0">
              <a:buNone/>
            </a:pPr>
            <a:r>
              <a:rPr lang="en-US" sz="1100" dirty="0">
                <a:solidFill>
                  <a:srgbClr val="6E7687"/>
                </a:solidFill>
                <a:latin typeface="Calibri" pitchFamily="34" charset="0"/>
                <a:ea typeface="Calibri" pitchFamily="34" charset="-122"/>
                <a:cs typeface="Calibri" pitchFamily="34" charset="-120"/>
              </a:rPr>
              <a:t>static RAM — 17.8% of 256 KB</a:t>
            </a:r>
            <a:endParaRPr lang="en-US" sz="1100" dirty="0"/>
          </a:p>
        </p:txBody>
      </p:sp>
      <p:sp>
        <p:nvSpPr>
          <p:cNvPr id="9" name="Text 7"/>
          <p:cNvSpPr/>
          <p:nvPr/>
        </p:nvSpPr>
        <p:spPr>
          <a:xfrm>
            <a:off x="4663440" y="4480560"/>
            <a:ext cx="1965960" cy="566928"/>
          </a:xfrm>
          <a:prstGeom prst="rect">
            <a:avLst/>
          </a:prstGeom>
          <a:noFill/>
          <a:ln/>
        </p:spPr>
        <p:txBody>
          <a:bodyPr wrap="none" lIns="0" tIns="0" rIns="0" bIns="0" rtlCol="0" anchor="ctr"/>
          <a:lstStyle/>
          <a:p>
            <a:pPr algn="ctr" indent="0" marL="0">
              <a:buNone/>
            </a:pPr>
            <a:r>
              <a:rPr lang="en-US" sz="2200" b="1" dirty="0">
                <a:solidFill>
                  <a:srgbClr val="1F6F7A"/>
                </a:solidFill>
                <a:latin typeface="Cambria" pitchFamily="34" charset="0"/>
                <a:ea typeface="Cambria" pitchFamily="34" charset="-122"/>
                <a:cs typeface="Cambria" pitchFamily="34" charset="-120"/>
              </a:rPr>
              <a:t>20.8 µs</a:t>
            </a:r>
            <a:endParaRPr lang="en-US" sz="2200" dirty="0"/>
          </a:p>
        </p:txBody>
      </p:sp>
      <p:sp>
        <p:nvSpPr>
          <p:cNvPr id="10" name="Text 8"/>
          <p:cNvSpPr/>
          <p:nvPr/>
        </p:nvSpPr>
        <p:spPr>
          <a:xfrm>
            <a:off x="4663440" y="5029200"/>
            <a:ext cx="1965960" cy="566928"/>
          </a:xfrm>
          <a:prstGeom prst="rect">
            <a:avLst/>
          </a:prstGeom>
          <a:noFill/>
          <a:ln/>
        </p:spPr>
        <p:txBody>
          <a:bodyPr wrap="square" lIns="0" tIns="0" rIns="0" bIns="0" rtlCol="0" anchor="t"/>
          <a:lstStyle/>
          <a:p>
            <a:pPr algn="ctr" indent="0" marL="0">
              <a:buNone/>
            </a:pPr>
            <a:r>
              <a:rPr lang="en-US" sz="1100" dirty="0">
                <a:solidFill>
                  <a:srgbClr val="6E7687"/>
                </a:solidFill>
                <a:latin typeface="Calibri" pitchFamily="34" charset="0"/>
                <a:ea typeface="Calibri" pitchFamily="34" charset="-122"/>
                <a:cs typeface="Calibri" pitchFamily="34" charset="-120"/>
              </a:rPr>
              <a:t>mean inference, p95 21.0</a:t>
            </a:r>
            <a:endParaRPr lang="en-US" sz="1100" dirty="0"/>
          </a:p>
        </p:txBody>
      </p:sp>
      <p:sp>
        <p:nvSpPr>
          <p:cNvPr id="11" name="Shape 9"/>
          <p:cNvSpPr/>
          <p:nvPr/>
        </p:nvSpPr>
        <p:spPr>
          <a:xfrm>
            <a:off x="6766560" y="1536192"/>
            <a:ext cx="4873752" cy="2697480"/>
          </a:xfrm>
          <a:prstGeom prst="roundRect">
            <a:avLst>
              <a:gd name="adj" fmla="val 2712"/>
            </a:avLst>
          </a:prstGeom>
          <a:solidFill>
            <a:srgbClr val="F3F5F9"/>
          </a:solidFill>
          <a:ln w="12700">
            <a:solidFill>
              <a:srgbClr val="F3F5F9"/>
            </a:solidFill>
            <a:prstDash val="solid"/>
          </a:ln>
        </p:spPr>
      </p:sp>
      <p:sp>
        <p:nvSpPr>
          <p:cNvPr id="12" name="Text 10"/>
          <p:cNvSpPr/>
          <p:nvPr/>
        </p:nvSpPr>
        <p:spPr>
          <a:xfrm>
            <a:off x="6967728" y="1682496"/>
            <a:ext cx="4471416" cy="310896"/>
          </a:xfrm>
          <a:prstGeom prst="rect">
            <a:avLst/>
          </a:prstGeom>
          <a:noFill/>
          <a:ln/>
        </p:spPr>
        <p:txBody>
          <a:bodyPr wrap="square" lIns="0" tIns="0" rIns="0" bIns="0" rtlCol="0" anchor="ctr"/>
          <a:lstStyle/>
          <a:p>
            <a:pPr indent="0" marL="0">
              <a:buNone/>
            </a:pPr>
            <a:r>
              <a:rPr lang="en-US" sz="1400" b="1" dirty="0">
                <a:solidFill>
                  <a:srgbClr val="E08A2E"/>
                </a:solidFill>
                <a:latin typeface="Calibri" pitchFamily="34" charset="0"/>
                <a:ea typeface="Calibri" pitchFamily="34" charset="-122"/>
                <a:cs typeface="Calibri" pitchFamily="34" charset="-120"/>
              </a:rPr>
              <a:t>The INT8 network exists — and was not deployed</a:t>
            </a:r>
            <a:endParaRPr lang="en-US" sz="1400" dirty="0"/>
          </a:p>
        </p:txBody>
      </p:sp>
      <p:sp>
        <p:nvSpPr>
          <p:cNvPr id="13" name="Text 11"/>
          <p:cNvSpPr/>
          <p:nvPr/>
        </p:nvSpPr>
        <p:spPr>
          <a:xfrm>
            <a:off x="6967728" y="2011680"/>
            <a:ext cx="4471416" cy="2057400"/>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CW1 promised an INT8 TensorFlow Lite Micro model. It was built in Edge Impulse on identical windows (195 train / 104 test on both sides) and measured. The tree beat it by 20 percentage points, so the tree shipped. Choosing not to deploy is a result, not an omission.</a:t>
            </a:r>
            <a:endParaRPr lang="en-US" sz="1200" dirty="0"/>
          </a:p>
        </p:txBody>
      </p:sp>
      <p:sp>
        <p:nvSpPr>
          <p:cNvPr id="14" name="Shape 12"/>
          <p:cNvSpPr/>
          <p:nvPr/>
        </p:nvSpPr>
        <p:spPr>
          <a:xfrm>
            <a:off x="6766560" y="4480560"/>
            <a:ext cx="4873752" cy="1874520"/>
          </a:xfrm>
          <a:prstGeom prst="roundRect">
            <a:avLst>
              <a:gd name="adj" fmla="val 3902"/>
            </a:avLst>
          </a:prstGeom>
          <a:solidFill>
            <a:srgbClr val="F3F5F9"/>
          </a:solidFill>
          <a:ln w="12700">
            <a:solidFill>
              <a:srgbClr val="F3F5F9"/>
            </a:solidFill>
            <a:prstDash val="solid"/>
          </a:ln>
        </p:spPr>
      </p:sp>
      <p:sp>
        <p:nvSpPr>
          <p:cNvPr id="15" name="Text 13"/>
          <p:cNvSpPr/>
          <p:nvPr/>
        </p:nvSpPr>
        <p:spPr>
          <a:xfrm>
            <a:off x="6967728" y="4626864"/>
            <a:ext cx="4471416" cy="310896"/>
          </a:xfrm>
          <a:prstGeom prst="rect">
            <a:avLst/>
          </a:prstGeom>
          <a:noFill/>
          <a:ln/>
        </p:spPr>
        <p:txBody>
          <a:bodyPr wrap="square" lIns="0" tIns="0" rIns="0" bIns="0" rtlCol="0" anchor="ctr"/>
          <a:lstStyle/>
          <a:p>
            <a:pPr indent="0" marL="0">
              <a:buNone/>
            </a:pPr>
            <a:r>
              <a:rPr lang="en-US" sz="1400" b="1" dirty="0">
                <a:solidFill>
                  <a:srgbClr val="1F6F7A"/>
                </a:solidFill>
                <a:latin typeface="Calibri" pitchFamily="34" charset="0"/>
                <a:ea typeface="Calibri" pitchFamily="34" charset="-122"/>
                <a:cs typeface="Calibri" pitchFamily="34" charset="-120"/>
              </a:rPr>
              <a:t>Public project</a:t>
            </a:r>
            <a:endParaRPr lang="en-US" sz="1400" dirty="0"/>
          </a:p>
        </p:txBody>
      </p:sp>
      <p:sp>
        <p:nvSpPr>
          <p:cNvPr id="16" name="Text 14"/>
          <p:cNvSpPr/>
          <p:nvPr/>
        </p:nvSpPr>
        <p:spPr>
          <a:xfrm>
            <a:off x="6967728" y="4956048"/>
            <a:ext cx="4471416" cy="1234440"/>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studio.edgeimpulse.com/public/1082649/live — Vish_Vekzz / LightGuide-Edge, open without a login.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Results — offline</a:t>
            </a:r>
            <a:endParaRPr lang="en-US" sz="34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indent="0" marL="0">
              <a:buNone/>
            </a:pPr>
            <a:r>
              <a:rPr lang="en-US" sz="1400" dirty="0">
                <a:solidFill>
                  <a:srgbClr val="6E7687"/>
                </a:solidFill>
                <a:latin typeface="Calibri" pitchFamily="34" charset="0"/>
                <a:ea typeface="Calibri" pitchFamily="34" charset="-122"/>
                <a:cs typeface="Calibri" pitchFamily="34" charset="-120"/>
              </a:rPr>
              <a:t>Held-out session 3, never seen in training</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5760720" cy="914400"/>
        </p:xfrm>
        <a:graphic>
          <a:graphicData uri="http://schemas.openxmlformats.org/drawingml/2006/table">
            <a:tbl>
              <a:tblPr/>
              <a:tblGrid>
                <a:gridCol w="2651760"/>
                <a:gridCol w="1691640"/>
                <a:gridCol w="1417320"/>
              </a:tblGrid>
              <a:tr h="384048">
                <a:tc>
                  <a:txBody>
                    <a:bodyPr/>
                    <a:lstStyle/>
                    <a:p>
                      <a:pPr algn="l" indent="0" marL="0">
                        <a:buNone/>
                      </a:pPr>
                      <a:r>
                        <a:rPr lang="en-US" sz="1300" b="1" dirty="0">
                          <a:solidFill>
                            <a:srgbClr val="000000"/>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000000"/>
                          </a:solidFill>
                          <a:latin typeface="Calibri" pitchFamily="34" charset="0"/>
                          <a:ea typeface="Calibri" pitchFamily="34" charset="-122"/>
                          <a:cs typeface="Calibri" pitchFamily="34" charset="-120"/>
                        </a:rPr>
                        <a:t>CV macro-F1</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000000"/>
                          </a:solidFill>
                          <a:latin typeface="Calibri" pitchFamily="34" charset="0"/>
                          <a:ea typeface="Calibri" pitchFamily="34" charset="-122"/>
                          <a:cs typeface="Calibri" pitchFamily="34" charset="-120"/>
                        </a:rPr>
                        <a:t>test macro-F1</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M0a Decision Tree</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0.882 ± 0.237</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0.868</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M0d Random Forest</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0.896 ± 0.207</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0.868</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M1  MLP (32-16)</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0.858 ± 0.138</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0.860</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M0c Logistic Regression</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0.849 ± 0.148</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0.786</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M0b k-NN (k=5)</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0.784 ± 0.161</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0.800</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Majority baseline</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0.067</a:t>
                      </a:r>
                      <a:endParaRPr lang="en-US" sz="1300" dirty="0">
                        <a:latin typeface="Calibri" charset="0"/>
                        <a:ea typeface="Calibri" charset="0"/>
                        <a:cs typeface="Calibri" charset="0"/>
                      </a:endParaRPr>
                    </a:p>
                  </a:txBody>
                  <a:tcPr marL="91440" marR="91440" marT="45720" marB="45720">
                    <a:lnL w="12700" cap="flat" cmpd="sng" algn="ctr">
                      <a:solidFill>
                        <a:srgbClr val="DCE1E9"/>
                      </a:solidFill>
                      <a:prstDash val="solid"/>
                      <a:round/>
                      <a:headEnd type="none" w="med" len="med"/>
                      <a:tailEnd type="none" w="med" len="med"/>
                    </a:lnL>
                    <a:lnR w="12700" cap="flat" cmpd="sng" algn="ctr">
                      <a:solidFill>
                        <a:srgbClr val="DCE1E9"/>
                      </a:solidFill>
                      <a:prstDash val="solid"/>
                      <a:round/>
                      <a:headEnd type="none" w="med" len="med"/>
                      <a:tailEnd type="none" w="med" len="med"/>
                    </a:lnR>
                    <a:lnT w="12700" cap="flat" cmpd="sng" algn="ctr">
                      <a:solidFill>
                        <a:srgbClr val="DCE1E9"/>
                      </a:solidFill>
                      <a:prstDash val="solid"/>
                      <a:round/>
                      <a:headEnd type="none" w="med" len="med"/>
                      <a:tailEnd type="none" w="med" len="med"/>
                    </a:lnT>
                    <a:lnB w="12700" cap="flat" cmpd="sng" algn="ctr">
                      <a:solidFill>
                        <a:srgbClr val="DCE1E9"/>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572000"/>
            <a:ext cx="5760720" cy="1783080"/>
          </a:xfrm>
          <a:prstGeom prst="roundRect">
            <a:avLst>
              <a:gd name="adj" fmla="val 4103"/>
            </a:avLst>
          </a:prstGeom>
          <a:solidFill>
            <a:srgbClr val="F3F5F9"/>
          </a:solidFill>
          <a:ln w="12700">
            <a:solidFill>
              <a:srgbClr val="F3F5F9"/>
            </a:solidFill>
            <a:prstDash val="solid"/>
          </a:ln>
        </p:spPr>
      </p:sp>
      <p:sp>
        <p:nvSpPr>
          <p:cNvPr id="6" name="Text 3"/>
          <p:cNvSpPr/>
          <p:nvPr/>
        </p:nvSpPr>
        <p:spPr>
          <a:xfrm>
            <a:off x="749808" y="4718304"/>
            <a:ext cx="5358384" cy="310896"/>
          </a:xfrm>
          <a:prstGeom prst="rect">
            <a:avLst/>
          </a:prstGeom>
          <a:noFill/>
          <a:ln/>
        </p:spPr>
        <p:txBody>
          <a:bodyPr wrap="square" lIns="0" tIns="0" rIns="0" bIns="0" rtlCol="0" anchor="ctr"/>
          <a:lstStyle/>
          <a:p>
            <a:pPr indent="0" marL="0">
              <a:buNone/>
            </a:pPr>
            <a:r>
              <a:rPr lang="en-US" sz="1400" b="1" dirty="0">
                <a:solidFill>
                  <a:srgbClr val="B3453B"/>
                </a:solidFill>
                <a:latin typeface="Calibri" pitchFamily="34" charset="0"/>
                <a:ea typeface="Calibri" pitchFamily="34" charset="-122"/>
                <a:cs typeface="Calibri" pitchFamily="34" charset="-120"/>
              </a:rPr>
              <a:t>The generalisation gap is the point</a:t>
            </a:r>
            <a:endParaRPr lang="en-US" sz="1400" dirty="0"/>
          </a:p>
        </p:txBody>
      </p:sp>
      <p:sp>
        <p:nvSpPr>
          <p:cNvPr id="7" name="Text 4"/>
          <p:cNvSpPr/>
          <p:nvPr/>
        </p:nvSpPr>
        <p:spPr>
          <a:xfrm>
            <a:off x="749808" y="5047488"/>
            <a:ext cx="5358384" cy="1143000"/>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CV 0.882 against held-out 0.868 — a gap of +0.014. Session-wise splitting exists to expose exactly this number; a random split would have hidden it and reported something flattering and false.</a:t>
            </a:r>
            <a:endParaRPr lang="en-US" sz="1200" dirty="0"/>
          </a:p>
        </p:txBody>
      </p:sp>
      <p:pic>
        <p:nvPicPr>
          <p:cNvPr id="8" name="Image 0" descr="C:\Users\vishn\OneDrive\Desktop\Edge Setup\LightGuide-Edge\reports\figures\confusion_m0a.png">    </p:cNvPr>
          <p:cNvPicPr>
            <a:picLocks noChangeAspect="1"/>
          </p:cNvPicPr>
          <p:nvPr/>
        </p:nvPicPr>
        <p:blipFill>
          <a:blip r:embed="rId1"/>
          <a:srcRect l="0" r="0" t="0" b="0"/>
          <a:stretch/>
        </p:blipFill>
        <p:spPr>
          <a:xfrm>
            <a:off x="6537960" y="1536192"/>
            <a:ext cx="5102352" cy="3703320"/>
          </a:xfrm>
          <a:prstGeom prst="rect">
            <a:avLst/>
          </a:prstGeom>
        </p:spPr>
      </p:pic>
      <p:sp>
        <p:nvSpPr>
          <p:cNvPr id="9" name="Text 5"/>
          <p:cNvSpPr/>
          <p:nvPr/>
        </p:nvSpPr>
        <p:spPr>
          <a:xfrm>
            <a:off x="6537960" y="5349240"/>
            <a:ext cx="5102352" cy="310896"/>
          </a:xfrm>
          <a:prstGeom prst="rect">
            <a:avLst/>
          </a:prstGeom>
          <a:noFill/>
          <a:ln/>
        </p:spPr>
        <p:txBody>
          <a:bodyPr wrap="square" lIns="0" tIns="0" rIns="0" bIns="0" rtlCol="0" anchor="ctr"/>
          <a:lstStyle/>
          <a:p>
            <a:pPr indent="0" marL="0">
              <a:buNone/>
            </a:pPr>
            <a:r>
              <a:rPr lang="en-US" sz="1000" i="1" dirty="0">
                <a:solidFill>
                  <a:srgbClr val="6E7687"/>
                </a:solidFill>
                <a:latin typeface="Calibri" pitchFamily="34" charset="0"/>
                <a:ea typeface="Calibri" pitchFamily="34" charset="-122"/>
                <a:cs typeface="Calibri" pitchFamily="34" charset="-120"/>
              </a:rPr>
              <a:t>Every error is a distance class absorbed into optimal: too_close recall 0.67, too_far 0.65, both channels' lighting classes 1.00.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Results — online, on the device, in the room</a:t>
            </a:r>
            <a:endParaRPr lang="en-US" sz="34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indent="0" marL="0">
              <a:buNone/>
            </a:pPr>
            <a:r>
              <a:rPr lang="en-US" sz="1400" dirty="0">
                <a:solidFill>
                  <a:srgbClr val="6E7687"/>
                </a:solidFill>
                <a:latin typeface="Calibri" pitchFamily="34" charset="0"/>
                <a:ea typeface="Calibri" pitchFamily="34" charset="-122"/>
                <a:cs typeface="Calibri" pitchFamily="34" charset="-120"/>
              </a:rPr>
              <a:t>40 staged runs · 1,648 classified samples · 0 dropouts</a:t>
            </a:r>
            <a:endParaRPr lang="en-US" sz="1400" dirty="0"/>
          </a:p>
        </p:txBody>
      </p:sp>
      <p:sp>
        <p:nvSpPr>
          <p:cNvPr id="4" name="Text 2"/>
          <p:cNvSpPr/>
          <p:nvPr/>
        </p:nvSpPr>
        <p:spPr>
          <a:xfrm>
            <a:off x="548640" y="1481328"/>
            <a:ext cx="1783080" cy="566928"/>
          </a:xfrm>
          <a:prstGeom prst="rect">
            <a:avLst/>
          </a:prstGeom>
          <a:noFill/>
          <a:ln/>
        </p:spPr>
        <p:txBody>
          <a:bodyPr wrap="none" lIns="0" tIns="0" rIns="0" bIns="0" rtlCol="0" anchor="ctr"/>
          <a:lstStyle/>
          <a:p>
            <a:pPr algn="ctr" indent="0" marL="0">
              <a:buNone/>
            </a:pPr>
            <a:r>
              <a:rPr lang="en-US" sz="2700" b="1" dirty="0">
                <a:solidFill>
                  <a:srgbClr val="1F6F7A"/>
                </a:solidFill>
                <a:latin typeface="Cambria" pitchFamily="34" charset="0"/>
                <a:ea typeface="Cambria" pitchFamily="34" charset="-122"/>
                <a:cs typeface="Cambria" pitchFamily="34" charset="-120"/>
              </a:rPr>
              <a:t>1.000</a:t>
            </a:r>
            <a:endParaRPr lang="en-US" sz="2700" dirty="0"/>
          </a:p>
        </p:txBody>
      </p:sp>
      <p:sp>
        <p:nvSpPr>
          <p:cNvPr id="5" name="Text 3"/>
          <p:cNvSpPr/>
          <p:nvPr/>
        </p:nvSpPr>
        <p:spPr>
          <a:xfrm>
            <a:off x="548640" y="2029968"/>
            <a:ext cx="1783080" cy="566928"/>
          </a:xfrm>
          <a:prstGeom prst="rect">
            <a:avLst/>
          </a:prstGeom>
          <a:noFill/>
          <a:ln/>
        </p:spPr>
        <p:txBody>
          <a:bodyPr wrap="square" lIns="0" tIns="0" rIns="0" bIns="0" rtlCol="0" anchor="t"/>
          <a:lstStyle/>
          <a:p>
            <a:pPr algn="ctr" indent="0" marL="0">
              <a:buNone/>
            </a:pPr>
            <a:r>
              <a:rPr lang="en-US" sz="1100" dirty="0">
                <a:solidFill>
                  <a:srgbClr val="6E7687"/>
                </a:solidFill>
                <a:latin typeface="Calibri" pitchFamily="34" charset="0"/>
                <a:ea typeface="Calibri" pitchFamily="34" charset="-122"/>
                <a:cs typeface="Calibri" pitchFamily="34" charset="-120"/>
              </a:rPr>
              <a:t>per-run macro-F1</a:t>
            </a:r>
            <a:endParaRPr lang="en-US" sz="1100" dirty="0"/>
          </a:p>
        </p:txBody>
      </p:sp>
      <p:sp>
        <p:nvSpPr>
          <p:cNvPr id="6" name="Text 4"/>
          <p:cNvSpPr/>
          <p:nvPr/>
        </p:nvSpPr>
        <p:spPr>
          <a:xfrm>
            <a:off x="2423160" y="1481328"/>
            <a:ext cx="1783080" cy="566928"/>
          </a:xfrm>
          <a:prstGeom prst="rect">
            <a:avLst/>
          </a:prstGeom>
          <a:noFill/>
          <a:ln/>
        </p:spPr>
        <p:txBody>
          <a:bodyPr wrap="none" lIns="0" tIns="0" rIns="0" bIns="0" rtlCol="0" anchor="ctr"/>
          <a:lstStyle/>
          <a:p>
            <a:pPr algn="ctr" indent="0" marL="0">
              <a:buNone/>
            </a:pPr>
            <a:r>
              <a:rPr lang="en-US" sz="2200" b="1" dirty="0">
                <a:solidFill>
                  <a:srgbClr val="1F6F7A"/>
                </a:solidFill>
                <a:latin typeface="Cambria" pitchFamily="34" charset="0"/>
                <a:ea typeface="Cambria" pitchFamily="34" charset="-122"/>
                <a:cs typeface="Cambria" pitchFamily="34" charset="-120"/>
              </a:rPr>
              <a:t>20.8 µs</a:t>
            </a:r>
            <a:endParaRPr lang="en-US" sz="2200" dirty="0"/>
          </a:p>
        </p:txBody>
      </p:sp>
      <p:sp>
        <p:nvSpPr>
          <p:cNvPr id="7" name="Text 5"/>
          <p:cNvSpPr/>
          <p:nvPr/>
        </p:nvSpPr>
        <p:spPr>
          <a:xfrm>
            <a:off x="2423160" y="2029968"/>
            <a:ext cx="1783080" cy="566928"/>
          </a:xfrm>
          <a:prstGeom prst="rect">
            <a:avLst/>
          </a:prstGeom>
          <a:noFill/>
          <a:ln/>
        </p:spPr>
        <p:txBody>
          <a:bodyPr wrap="square" lIns="0" tIns="0" rIns="0" bIns="0" rtlCol="0" anchor="t"/>
          <a:lstStyle/>
          <a:p>
            <a:pPr algn="ctr" indent="0" marL="0">
              <a:buNone/>
            </a:pPr>
            <a:r>
              <a:rPr lang="en-US" sz="1100" dirty="0">
                <a:solidFill>
                  <a:srgbClr val="6E7687"/>
                </a:solidFill>
                <a:latin typeface="Calibri" pitchFamily="34" charset="0"/>
                <a:ea typeface="Calibri" pitchFamily="34" charset="-122"/>
                <a:cs typeface="Calibri" pitchFamily="34" charset="-120"/>
              </a:rPr>
              <a:t>mean inference</a:t>
            </a:r>
            <a:endParaRPr lang="en-US" sz="1100" dirty="0"/>
          </a:p>
        </p:txBody>
      </p:sp>
      <p:sp>
        <p:nvSpPr>
          <p:cNvPr id="8" name="Text 6"/>
          <p:cNvSpPr/>
          <p:nvPr/>
        </p:nvSpPr>
        <p:spPr>
          <a:xfrm>
            <a:off x="4297680" y="1481328"/>
            <a:ext cx="1783080" cy="566928"/>
          </a:xfrm>
          <a:prstGeom prst="rect">
            <a:avLst/>
          </a:prstGeom>
          <a:noFill/>
          <a:ln/>
        </p:spPr>
        <p:txBody>
          <a:bodyPr wrap="none" lIns="0" tIns="0" rIns="0" bIns="0" rtlCol="0" anchor="ctr"/>
          <a:lstStyle/>
          <a:p>
            <a:pPr algn="ctr" indent="0" marL="0">
              <a:buNone/>
            </a:pPr>
            <a:r>
              <a:rPr lang="en-US" sz="2200" b="1" dirty="0">
                <a:solidFill>
                  <a:srgbClr val="1F6F7A"/>
                </a:solidFill>
                <a:latin typeface="Cambria" pitchFamily="34" charset="0"/>
                <a:ea typeface="Cambria" pitchFamily="34" charset="-122"/>
                <a:cs typeface="Cambria" pitchFamily="34" charset="-120"/>
              </a:rPr>
              <a:t>8.09 Hz</a:t>
            </a:r>
            <a:endParaRPr lang="en-US" sz="2200" dirty="0"/>
          </a:p>
        </p:txBody>
      </p:sp>
      <p:sp>
        <p:nvSpPr>
          <p:cNvPr id="9" name="Text 7"/>
          <p:cNvSpPr/>
          <p:nvPr/>
        </p:nvSpPr>
        <p:spPr>
          <a:xfrm>
            <a:off x="4297680" y="2029968"/>
            <a:ext cx="1783080" cy="566928"/>
          </a:xfrm>
          <a:prstGeom prst="rect">
            <a:avLst/>
          </a:prstGeom>
          <a:noFill/>
          <a:ln/>
        </p:spPr>
        <p:txBody>
          <a:bodyPr wrap="square" lIns="0" tIns="0" rIns="0" bIns="0" rtlCol="0" anchor="t"/>
          <a:lstStyle/>
          <a:p>
            <a:pPr algn="ctr" indent="0" marL="0">
              <a:buNone/>
            </a:pPr>
            <a:r>
              <a:rPr lang="en-US" sz="1100" dirty="0">
                <a:solidFill>
                  <a:srgbClr val="6E7687"/>
                </a:solidFill>
                <a:latin typeface="Calibri" pitchFamily="34" charset="0"/>
                <a:ea typeface="Calibri" pitchFamily="34" charset="-122"/>
                <a:cs typeface="Calibri" pitchFamily="34" charset="-120"/>
              </a:rPr>
              <a:t>sustained sample rate</a:t>
            </a:r>
            <a:endParaRPr lang="en-US" sz="1100" dirty="0"/>
          </a:p>
        </p:txBody>
      </p:sp>
      <p:sp>
        <p:nvSpPr>
          <p:cNvPr id="10" name="Shape 8"/>
          <p:cNvSpPr/>
          <p:nvPr/>
        </p:nvSpPr>
        <p:spPr>
          <a:xfrm>
            <a:off x="548640" y="3063240"/>
            <a:ext cx="5486400" cy="3291840"/>
          </a:xfrm>
          <a:prstGeom prst="roundRect">
            <a:avLst>
              <a:gd name="adj" fmla="val 2222"/>
            </a:avLst>
          </a:prstGeom>
          <a:solidFill>
            <a:srgbClr val="F3F5F9"/>
          </a:solidFill>
          <a:ln w="12700">
            <a:solidFill>
              <a:srgbClr val="F3F5F9"/>
            </a:solidFill>
            <a:prstDash val="solid"/>
          </a:ln>
        </p:spPr>
      </p:sp>
      <p:sp>
        <p:nvSpPr>
          <p:cNvPr id="11" name="Text 9"/>
          <p:cNvSpPr/>
          <p:nvPr/>
        </p:nvSpPr>
        <p:spPr>
          <a:xfrm>
            <a:off x="749808" y="3209544"/>
            <a:ext cx="5084064" cy="310896"/>
          </a:xfrm>
          <a:prstGeom prst="rect">
            <a:avLst/>
          </a:prstGeom>
          <a:noFill/>
          <a:ln/>
        </p:spPr>
        <p:txBody>
          <a:bodyPr wrap="square" lIns="0" tIns="0" rIns="0" bIns="0" rtlCol="0" anchor="ctr"/>
          <a:lstStyle/>
          <a:p>
            <a:pPr indent="0" marL="0">
              <a:buNone/>
            </a:pPr>
            <a:r>
              <a:rPr lang="en-US" sz="1400" b="1" dirty="0">
                <a:solidFill>
                  <a:srgbClr val="B3453B"/>
                </a:solidFill>
                <a:latin typeface="Calibri" pitchFamily="34" charset="0"/>
                <a:ea typeface="Calibri" pitchFamily="34" charset="-122"/>
                <a:cs typeface="Calibri" pitchFamily="34" charset="-120"/>
              </a:rPr>
              <a:t>Why 1.000 is NOT better than the offline 0.868</a:t>
            </a:r>
            <a:endParaRPr lang="en-US" sz="1400" dirty="0"/>
          </a:p>
        </p:txBody>
      </p:sp>
      <p:sp>
        <p:nvSpPr>
          <p:cNvPr id="12" name="Text 10"/>
          <p:cNvSpPr/>
          <p:nvPr/>
        </p:nvSpPr>
        <p:spPr>
          <a:xfrm>
            <a:off x="749808" y="3538728"/>
            <a:ext cx="5084064" cy="2651760"/>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The two evaluations sample different regions. Online, every off-reference run was staged against a floor mark ~300 mm out, with a within-class spread of 2 mm. The held-out session contains windows only 33–38 mm past a 30 mm tolerance — the boundary region, which is precisely where slide 10's errors live. The online score is a property of the protocol, not evidence the device improved.</a:t>
            </a:r>
            <a:endParaRPr lang="en-US" sz="1200" dirty="0"/>
          </a:p>
        </p:txBody>
      </p:sp>
      <p:pic>
        <p:nvPicPr>
          <p:cNvPr id="13" name="Image 0" descr="C:\Users\vishn\OneDrive\Desktop\Edge Setup\LightGuide-Edge\reports\figures\confusion_online.png">    </p:cNvPr>
          <p:cNvPicPr>
            <a:picLocks noChangeAspect="1"/>
          </p:cNvPicPr>
          <p:nvPr/>
        </p:nvPicPr>
        <p:blipFill>
          <a:blip r:embed="rId1"/>
          <a:srcRect l="0" r="0" t="0" b="0"/>
          <a:stretch/>
        </p:blipFill>
        <p:spPr>
          <a:xfrm>
            <a:off x="6355080" y="1481328"/>
            <a:ext cx="5285232" cy="3657600"/>
          </a:xfrm>
          <a:prstGeom prst="rect">
            <a:avLst/>
          </a:prstGeom>
        </p:spPr>
      </p:pic>
      <p:sp>
        <p:nvSpPr>
          <p:cNvPr id="14" name="Text 11"/>
          <p:cNvSpPr/>
          <p:nvPr/>
        </p:nvSpPr>
        <p:spPr>
          <a:xfrm>
            <a:off x="6355080" y="5257800"/>
            <a:ext cx="5285232" cy="310896"/>
          </a:xfrm>
          <a:prstGeom prst="rect">
            <a:avLst/>
          </a:prstGeom>
          <a:noFill/>
          <a:ln/>
        </p:spPr>
        <p:txBody>
          <a:bodyPr wrap="square" lIns="0" tIns="0" rIns="0" bIns="0" rtlCol="0" anchor="ctr"/>
          <a:lstStyle/>
          <a:p>
            <a:pPr indent="0" marL="0">
              <a:buNone/>
            </a:pPr>
            <a:r>
              <a:rPr lang="en-US" sz="1000" i="1" dirty="0">
                <a:solidFill>
                  <a:srgbClr val="6E7687"/>
                </a:solidFill>
                <a:latin typeface="Calibri" pitchFamily="34" charset="0"/>
                <a:ea typeface="Calibri" pitchFamily="34" charset="-122"/>
                <a:cs typeface="Calibri" pitchFamily="34" charset="-120"/>
              </a:rPr>
              <a:t>What it does establish: the deployed model reproduces its intended behaviour on every prototypical staging, with ground truth recorded at the trial.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Ablation, failure analysis and limitations</a:t>
            </a:r>
            <a:endParaRPr lang="en-US" sz="34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indent="0" marL="0">
              <a:buNone/>
            </a:pPr>
            <a:r>
              <a:rPr lang="en-US" sz="1400" dirty="0">
                <a:solidFill>
                  <a:srgbClr val="6E7687"/>
                </a:solidFill>
                <a:latin typeface="Calibri" pitchFamily="34" charset="0"/>
                <a:ea typeface="Calibri" pitchFamily="34" charset="-122"/>
                <a:cs typeface="Calibri" pitchFamily="34" charset="-120"/>
              </a:rPr>
              <a:t>What each sensor is worth, and where the device is known to break</a:t>
            </a:r>
            <a:endParaRPr lang="en-US" sz="1400" dirty="0"/>
          </a:p>
        </p:txBody>
      </p:sp>
      <p:pic>
        <p:nvPicPr>
          <p:cNvPr id="4" name="Image 0" descr="C:\Users\vishn\OneDrive\Desktop\Edge Setup\LightGuide-Edge\reports\figures\ablation.png">    </p:cNvPr>
          <p:cNvPicPr>
            <a:picLocks noChangeAspect="1"/>
          </p:cNvPicPr>
          <p:nvPr/>
        </p:nvPicPr>
        <p:blipFill>
          <a:blip r:embed="rId1"/>
          <a:srcRect l="0" r="0" t="0" b="0"/>
          <a:stretch/>
        </p:blipFill>
        <p:spPr>
          <a:xfrm>
            <a:off x="548640" y="1481328"/>
            <a:ext cx="5120640" cy="3108960"/>
          </a:xfrm>
          <a:prstGeom prst="rect">
            <a:avLst/>
          </a:prstGeom>
        </p:spPr>
      </p:pic>
      <p:sp>
        <p:nvSpPr>
          <p:cNvPr id="5" name="Text 2"/>
          <p:cNvSpPr/>
          <p:nvPr/>
        </p:nvSpPr>
        <p:spPr>
          <a:xfrm>
            <a:off x="548640" y="4681728"/>
            <a:ext cx="5120640" cy="310896"/>
          </a:xfrm>
          <a:prstGeom prst="rect">
            <a:avLst/>
          </a:prstGeom>
          <a:noFill/>
          <a:ln/>
        </p:spPr>
        <p:txBody>
          <a:bodyPr wrap="square" lIns="0" tIns="0" rIns="0" bIns="0" rtlCol="0" anchor="ctr"/>
          <a:lstStyle/>
          <a:p>
            <a:pPr indent="0" marL="0">
              <a:buNone/>
            </a:pPr>
            <a:r>
              <a:rPr lang="en-US" sz="1000" i="1" dirty="0">
                <a:solidFill>
                  <a:srgbClr val="6E7687"/>
                </a:solidFill>
                <a:latin typeface="Calibri" pitchFamily="34" charset="0"/>
                <a:ea typeface="Calibri" pitchFamily="34" charset="-122"/>
                <a:cs typeface="Calibri" pitchFamily="34" charset="-120"/>
              </a:rPr>
              <a:t>Distance alone 0.410, light alone 0.461, both 0.868 — the coupling from slide 3, measured.</a:t>
            </a:r>
            <a:endParaRPr lang="en-US" sz="1000" dirty="0"/>
          </a:p>
        </p:txBody>
      </p:sp>
      <p:sp>
        <p:nvSpPr>
          <p:cNvPr id="6" name="Shape 3"/>
          <p:cNvSpPr/>
          <p:nvPr/>
        </p:nvSpPr>
        <p:spPr>
          <a:xfrm>
            <a:off x="5852160" y="1481328"/>
            <a:ext cx="5788152" cy="1115568"/>
          </a:xfrm>
          <a:prstGeom prst="roundRect">
            <a:avLst>
              <a:gd name="adj" fmla="val 6557"/>
            </a:avLst>
          </a:prstGeom>
          <a:solidFill>
            <a:srgbClr val="F3F5F9"/>
          </a:solidFill>
          <a:ln w="12700">
            <a:solidFill>
              <a:srgbClr val="F3F5F9"/>
            </a:solidFill>
            <a:prstDash val="solid"/>
          </a:ln>
        </p:spPr>
      </p:sp>
      <p:sp>
        <p:nvSpPr>
          <p:cNvPr id="7" name="Text 4"/>
          <p:cNvSpPr/>
          <p:nvPr/>
        </p:nvSpPr>
        <p:spPr>
          <a:xfrm>
            <a:off x="6053328" y="1627632"/>
            <a:ext cx="5385816" cy="310896"/>
          </a:xfrm>
          <a:prstGeom prst="rect">
            <a:avLst/>
          </a:prstGeom>
          <a:noFill/>
          <a:ln/>
        </p:spPr>
        <p:txBody>
          <a:bodyPr wrap="square" lIns="0" tIns="0" rIns="0" bIns="0" rtlCol="0" anchor="ctr"/>
          <a:lstStyle/>
          <a:p>
            <a:pPr indent="0" marL="0">
              <a:buNone/>
            </a:pPr>
            <a:r>
              <a:rPr lang="en-US" sz="1400" b="1" dirty="0">
                <a:solidFill>
                  <a:srgbClr val="B3453B"/>
                </a:solidFill>
                <a:latin typeface="Calibri" pitchFamily="34" charset="0"/>
                <a:ea typeface="Calibri" pitchFamily="34" charset="-122"/>
                <a:cs typeface="Calibri" pitchFamily="34" charset="-120"/>
              </a:rPr>
              <a:t>Near the tolerance boundary</a:t>
            </a:r>
            <a:endParaRPr lang="en-US" sz="1400" dirty="0"/>
          </a:p>
        </p:txBody>
      </p:sp>
      <p:sp>
        <p:nvSpPr>
          <p:cNvPr id="8" name="Text 5"/>
          <p:cNvSpPr/>
          <p:nvPr/>
        </p:nvSpPr>
        <p:spPr>
          <a:xfrm>
            <a:off x="6053328" y="1956816"/>
            <a:ext cx="5385816" cy="475488"/>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too_close and too_far fall into optimal at 0.67 and 0.65 recall. Errors are concentrated within tens of millimetres of the band edge.</a:t>
            </a:r>
            <a:endParaRPr lang="en-US" sz="1200" dirty="0"/>
          </a:p>
        </p:txBody>
      </p:sp>
      <p:sp>
        <p:nvSpPr>
          <p:cNvPr id="9" name="Shape 6"/>
          <p:cNvSpPr/>
          <p:nvPr/>
        </p:nvSpPr>
        <p:spPr>
          <a:xfrm>
            <a:off x="5852160" y="2706624"/>
            <a:ext cx="5788152" cy="1115568"/>
          </a:xfrm>
          <a:prstGeom prst="roundRect">
            <a:avLst>
              <a:gd name="adj" fmla="val 6557"/>
            </a:avLst>
          </a:prstGeom>
          <a:solidFill>
            <a:srgbClr val="F3F5F9"/>
          </a:solidFill>
          <a:ln w="12700">
            <a:solidFill>
              <a:srgbClr val="F3F5F9"/>
            </a:solidFill>
            <a:prstDash val="solid"/>
          </a:ln>
        </p:spPr>
      </p:sp>
      <p:sp>
        <p:nvSpPr>
          <p:cNvPr id="10" name="Text 7"/>
          <p:cNvSpPr/>
          <p:nvPr/>
        </p:nvSpPr>
        <p:spPr>
          <a:xfrm>
            <a:off x="6053328" y="2852928"/>
            <a:ext cx="5385816" cy="310896"/>
          </a:xfrm>
          <a:prstGeom prst="rect">
            <a:avLst/>
          </a:prstGeom>
          <a:noFill/>
          <a:ln/>
        </p:spPr>
        <p:txBody>
          <a:bodyPr wrap="square" lIns="0" tIns="0" rIns="0" bIns="0" rtlCol="0" anchor="ctr"/>
          <a:lstStyle/>
          <a:p>
            <a:pPr indent="0" marL="0">
              <a:buNone/>
            </a:pPr>
            <a:r>
              <a:rPr lang="en-US" sz="1400" b="1" dirty="0">
                <a:solidFill>
                  <a:srgbClr val="E08A2E"/>
                </a:solidFill>
                <a:latin typeface="Calibri" pitchFamily="34" charset="0"/>
                <a:ea typeface="Calibri" pitchFamily="34" charset="-122"/>
                <a:cs typeface="Calibri" pitchFamily="34" charset="-120"/>
              </a:rPr>
              <a:t>The novelty gate under-fires</a:t>
            </a:r>
            <a:endParaRPr lang="en-US" sz="1400" dirty="0"/>
          </a:p>
        </p:txBody>
      </p:sp>
      <p:sp>
        <p:nvSpPr>
          <p:cNvPr id="11" name="Text 8"/>
          <p:cNvSpPr/>
          <p:nvPr/>
        </p:nvSpPr>
        <p:spPr>
          <a:xfrm>
            <a:off x="6053328" y="3182112"/>
            <a:ext cx="5385816" cy="475488"/>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M2 precision 1.000 but recall 0.169 — when it says UNKNOWN it is right, but it stays silent on most genuine deviations. Reported as a partial result.</a:t>
            </a:r>
            <a:endParaRPr lang="en-US" sz="1200" dirty="0"/>
          </a:p>
        </p:txBody>
      </p:sp>
      <p:sp>
        <p:nvSpPr>
          <p:cNvPr id="12" name="Shape 9"/>
          <p:cNvSpPr/>
          <p:nvPr/>
        </p:nvSpPr>
        <p:spPr>
          <a:xfrm>
            <a:off x="5852160" y="3931920"/>
            <a:ext cx="5788152" cy="1115568"/>
          </a:xfrm>
          <a:prstGeom prst="roundRect">
            <a:avLst>
              <a:gd name="adj" fmla="val 6557"/>
            </a:avLst>
          </a:prstGeom>
          <a:solidFill>
            <a:srgbClr val="F3F5F9"/>
          </a:solidFill>
          <a:ln w="12700">
            <a:solidFill>
              <a:srgbClr val="F3F5F9"/>
            </a:solidFill>
            <a:prstDash val="solid"/>
          </a:ln>
        </p:spPr>
      </p:sp>
      <p:sp>
        <p:nvSpPr>
          <p:cNvPr id="13" name="Text 10"/>
          <p:cNvSpPr/>
          <p:nvPr/>
        </p:nvSpPr>
        <p:spPr>
          <a:xfrm>
            <a:off x="6053328" y="4078224"/>
            <a:ext cx="5385816" cy="310896"/>
          </a:xfrm>
          <a:prstGeom prst="rect">
            <a:avLst/>
          </a:prstGeom>
          <a:noFill/>
          <a:ln/>
        </p:spPr>
        <p:txBody>
          <a:bodyPr wrap="square" lIns="0" tIns="0" rIns="0" bIns="0" rtlCol="0" anchor="ctr"/>
          <a:lstStyle/>
          <a:p>
            <a:pPr indent="0" marL="0">
              <a:buNone/>
            </a:pPr>
            <a:r>
              <a:rPr lang="en-US" sz="1400" b="1" dirty="0">
                <a:solidFill>
                  <a:srgbClr val="141A2E"/>
                </a:solidFill>
                <a:latin typeface="Calibri" pitchFamily="34" charset="0"/>
                <a:ea typeface="Calibri" pitchFamily="34" charset="-122"/>
                <a:cs typeface="Calibri" pitchFamily="34" charset="-120"/>
              </a:rPr>
              <a:t>Ultrasonic beyond ~160 cm</a:t>
            </a:r>
            <a:endParaRPr lang="en-US" sz="1400" dirty="0"/>
          </a:p>
        </p:txBody>
      </p:sp>
      <p:sp>
        <p:nvSpPr>
          <p:cNvPr id="14" name="Text 11"/>
          <p:cNvSpPr/>
          <p:nvPr/>
        </p:nvSpPr>
        <p:spPr>
          <a:xfrm>
            <a:off x="6053328" y="4407408"/>
            <a:ext cx="5385816" cy="475488"/>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With a 200 mm target the 527 mm beam cone picks up the background. Measured, not assumed.</a:t>
            </a:r>
            <a:endParaRPr lang="en-US" sz="1200" dirty="0"/>
          </a:p>
        </p:txBody>
      </p:sp>
      <p:sp>
        <p:nvSpPr>
          <p:cNvPr id="15" name="Shape 12"/>
          <p:cNvSpPr/>
          <p:nvPr/>
        </p:nvSpPr>
        <p:spPr>
          <a:xfrm>
            <a:off x="5852160" y="5157216"/>
            <a:ext cx="5788152" cy="1115568"/>
          </a:xfrm>
          <a:prstGeom prst="roundRect">
            <a:avLst>
              <a:gd name="adj" fmla="val 6557"/>
            </a:avLst>
          </a:prstGeom>
          <a:solidFill>
            <a:srgbClr val="F3F5F9"/>
          </a:solidFill>
          <a:ln w="12700">
            <a:solidFill>
              <a:srgbClr val="F3F5F9"/>
            </a:solidFill>
            <a:prstDash val="solid"/>
          </a:ln>
        </p:spPr>
      </p:sp>
      <p:sp>
        <p:nvSpPr>
          <p:cNvPr id="16" name="Text 13"/>
          <p:cNvSpPr/>
          <p:nvPr/>
        </p:nvSpPr>
        <p:spPr>
          <a:xfrm>
            <a:off x="6053328" y="5303520"/>
            <a:ext cx="5385816" cy="310896"/>
          </a:xfrm>
          <a:prstGeom prst="rect">
            <a:avLst/>
          </a:prstGeom>
          <a:noFill/>
          <a:ln/>
        </p:spPr>
        <p:txBody>
          <a:bodyPr wrap="square" lIns="0" tIns="0" rIns="0" bIns="0" rtlCol="0" anchor="ctr"/>
          <a:lstStyle/>
          <a:p>
            <a:pPr indent="0" marL="0">
              <a:buNone/>
            </a:pPr>
            <a:r>
              <a:rPr lang="en-US" sz="1400" b="1" dirty="0">
                <a:solidFill>
                  <a:srgbClr val="6E7687"/>
                </a:solidFill>
                <a:latin typeface="Calibri" pitchFamily="34" charset="0"/>
                <a:ea typeface="Calibri" pitchFamily="34" charset="-122"/>
                <a:cs typeface="Calibri" pitchFamily="34" charset="-120"/>
              </a:rPr>
              <a:t>tilt_off never collected</a:t>
            </a:r>
            <a:endParaRPr lang="en-US" sz="1400" dirty="0"/>
          </a:p>
        </p:txBody>
      </p:sp>
      <p:sp>
        <p:nvSpPr>
          <p:cNvPr id="17" name="Text 14"/>
          <p:cNvSpPr/>
          <p:nvPr/>
        </p:nvSpPr>
        <p:spPr>
          <a:xfrm>
            <a:off x="6053328" y="5632704"/>
            <a:ext cx="5385816" cy="475488"/>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Scope was cut to five classes; documented in docs/12-SCOPE-CHANGE-TILT.md rather than quietly dropped.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A2E"/>
        </a:solidFill>
      </p:bgPr>
    </p:bg>
    <p:spTree>
      <p:nvGrpSpPr>
        <p:cNvPr id="1" name=""/>
        <p:cNvGrpSpPr/>
        <p:nvPr/>
      </p:nvGrpSpPr>
      <p:grpSpPr>
        <a:xfrm>
          <a:off x="0" y="0"/>
          <a:ext cx="0" cy="0"/>
          <a:chOff x="0" y="0"/>
          <a:chExt cx="0" cy="0"/>
        </a:xfrm>
      </p:grpSpPr>
      <p:sp>
        <p:nvSpPr>
          <p:cNvPr id="2" name="Text 0"/>
          <p:cNvSpPr/>
          <p:nvPr/>
        </p:nvSpPr>
        <p:spPr>
          <a:xfrm>
            <a:off x="548640" y="457200"/>
            <a:ext cx="11094415"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Demo</a:t>
            </a:r>
            <a:endParaRPr lang="en-US" sz="3800" dirty="0"/>
          </a:p>
        </p:txBody>
      </p:sp>
      <p:sp>
        <p:nvSpPr>
          <p:cNvPr id="3" name="Text 1"/>
          <p:cNvSpPr/>
          <p:nvPr/>
        </p:nvSpPr>
        <p:spPr>
          <a:xfrm>
            <a:off x="548640" y="1097280"/>
            <a:ext cx="11094415" cy="365760"/>
          </a:xfrm>
          <a:prstGeom prst="rect">
            <a:avLst/>
          </a:prstGeom>
          <a:noFill/>
          <a:ln/>
        </p:spPr>
        <p:txBody>
          <a:bodyPr wrap="square" lIns="0" tIns="0" rIns="0" bIns="0" rtlCol="0" anchor="ctr"/>
          <a:lstStyle/>
          <a:p>
            <a:pPr indent="0" marL="0">
              <a:buNone/>
            </a:pPr>
            <a:r>
              <a:rPr lang="en-US" sz="1500" dirty="0">
                <a:solidFill>
                  <a:srgbClr val="E08A2E"/>
                </a:solidFill>
                <a:latin typeface="Calibri" pitchFamily="34" charset="0"/>
                <a:ea typeface="Calibri" pitchFamily="34" charset="-122"/>
                <a:cs typeface="Calibri" pitchFamily="34" charset="-120"/>
              </a:rPr>
              <a:t>Live device — video fallback ready</a:t>
            </a:r>
            <a:endParaRPr lang="en-US" sz="1500" dirty="0"/>
          </a:p>
        </p:txBody>
      </p:sp>
      <p:sp>
        <p:nvSpPr>
          <p:cNvPr id="4" name="Text 2"/>
          <p:cNvSpPr/>
          <p:nvPr/>
        </p:nvSpPr>
        <p:spPr>
          <a:xfrm>
            <a:off x="548640" y="1965960"/>
            <a:ext cx="685800" cy="384048"/>
          </a:xfrm>
          <a:prstGeom prst="rect">
            <a:avLst/>
          </a:prstGeom>
          <a:noFill/>
          <a:ln/>
        </p:spPr>
        <p:txBody>
          <a:bodyPr wrap="square" lIns="0" tIns="0" rIns="0" bIns="0" rtlCol="0" anchor="ctr"/>
          <a:lstStyle/>
          <a:p>
            <a:pPr indent="0" marL="0">
              <a:buNone/>
            </a:pPr>
            <a:r>
              <a:rPr lang="en-US" sz="1300" dirty="0">
                <a:solidFill>
                  <a:srgbClr val="6E7687"/>
                </a:solidFill>
                <a:latin typeface="Calibri" pitchFamily="34" charset="0"/>
                <a:ea typeface="Calibri" pitchFamily="34" charset="-122"/>
                <a:cs typeface="Calibri" pitchFamily="34" charset="-120"/>
              </a:rPr>
              <a:t>0:00</a:t>
            </a:r>
            <a:endParaRPr lang="en-US" sz="1300" dirty="0"/>
          </a:p>
        </p:txBody>
      </p:sp>
      <p:sp>
        <p:nvSpPr>
          <p:cNvPr id="5" name="Text 3"/>
          <p:cNvSpPr/>
          <p:nvPr/>
        </p:nvSpPr>
        <p:spPr>
          <a:xfrm>
            <a:off x="1280160" y="1965960"/>
            <a:ext cx="320040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Hold D7 for 2 s</a:t>
            </a:r>
            <a:endParaRPr lang="en-US" sz="1300" dirty="0"/>
          </a:p>
        </p:txBody>
      </p:sp>
      <p:sp>
        <p:nvSpPr>
          <p:cNvPr id="6" name="Text 4"/>
          <p:cNvSpPr/>
          <p:nvPr/>
        </p:nvSpPr>
        <p:spPr>
          <a:xfrm>
            <a:off x="4617720" y="1965960"/>
            <a:ext cx="3794760" cy="384048"/>
          </a:xfrm>
          <a:prstGeom prst="rect">
            <a:avLst/>
          </a:prstGeom>
          <a:noFill/>
          <a:ln/>
        </p:spPr>
        <p:txBody>
          <a:bodyPr wrap="square" lIns="0" tIns="0" rIns="0" bIns="0" rtlCol="0" anchor="ctr"/>
          <a:lstStyle/>
          <a:p>
            <a:pPr indent="0" marL="0">
              <a:buNone/>
            </a:pPr>
            <a:r>
              <a:rPr lang="en-US" sz="1300" b="1" dirty="0">
                <a:solidFill>
                  <a:srgbClr val="E08A2E"/>
                </a:solidFill>
                <a:latin typeface="Calibri" pitchFamily="34" charset="0"/>
                <a:ea typeface="Calibri" pitchFamily="34" charset="-122"/>
                <a:cs typeface="Calibri" pitchFamily="34" charset="-120"/>
              </a:rPr>
              <a:t>REFERENCE SAVED</a:t>
            </a:r>
            <a:endParaRPr lang="en-US" sz="1300" dirty="0"/>
          </a:p>
        </p:txBody>
      </p:sp>
      <p:sp>
        <p:nvSpPr>
          <p:cNvPr id="7" name="Text 5"/>
          <p:cNvSpPr/>
          <p:nvPr/>
        </p:nvSpPr>
        <p:spPr>
          <a:xfrm>
            <a:off x="548640" y="2569464"/>
            <a:ext cx="685800" cy="384048"/>
          </a:xfrm>
          <a:prstGeom prst="rect">
            <a:avLst/>
          </a:prstGeom>
          <a:noFill/>
          <a:ln/>
        </p:spPr>
        <p:txBody>
          <a:bodyPr wrap="square" lIns="0" tIns="0" rIns="0" bIns="0" rtlCol="0" anchor="ctr"/>
          <a:lstStyle/>
          <a:p>
            <a:pPr indent="0" marL="0">
              <a:buNone/>
            </a:pPr>
            <a:r>
              <a:rPr lang="en-US" sz="1300" dirty="0">
                <a:solidFill>
                  <a:srgbClr val="6E7687"/>
                </a:solidFill>
                <a:latin typeface="Calibri" pitchFamily="34" charset="0"/>
                <a:ea typeface="Calibri" pitchFamily="34" charset="-122"/>
                <a:cs typeface="Calibri" pitchFamily="34" charset="-120"/>
              </a:rPr>
              <a:t>0:08</a:t>
            </a:r>
            <a:endParaRPr lang="en-US" sz="1300" dirty="0"/>
          </a:p>
        </p:txBody>
      </p:sp>
      <p:sp>
        <p:nvSpPr>
          <p:cNvPr id="8" name="Text 6"/>
          <p:cNvSpPr/>
          <p:nvPr/>
        </p:nvSpPr>
        <p:spPr>
          <a:xfrm>
            <a:off x="1280160" y="2569464"/>
            <a:ext cx="320040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Settled at the reference</a:t>
            </a:r>
            <a:endParaRPr lang="en-US" sz="1300" dirty="0"/>
          </a:p>
        </p:txBody>
      </p:sp>
      <p:sp>
        <p:nvSpPr>
          <p:cNvPr id="9" name="Text 7"/>
          <p:cNvSpPr/>
          <p:nvPr/>
        </p:nvSpPr>
        <p:spPr>
          <a:xfrm>
            <a:off x="4617720" y="2569464"/>
            <a:ext cx="3794760" cy="384048"/>
          </a:xfrm>
          <a:prstGeom prst="rect">
            <a:avLst/>
          </a:prstGeom>
          <a:noFill/>
          <a:ln/>
        </p:spPr>
        <p:txBody>
          <a:bodyPr wrap="square" lIns="0" tIns="0" rIns="0" bIns="0" rtlCol="0" anchor="ctr"/>
          <a:lstStyle/>
          <a:p>
            <a:pPr indent="0" marL="0">
              <a:buNone/>
            </a:pPr>
            <a:r>
              <a:rPr lang="en-US" sz="1300" b="1" dirty="0">
                <a:solidFill>
                  <a:srgbClr val="E08A2E"/>
                </a:solidFill>
                <a:latin typeface="Calibri" pitchFamily="34" charset="0"/>
                <a:ea typeface="Calibri" pitchFamily="34" charset="-122"/>
                <a:cs typeface="Calibri" pitchFamily="34" charset="-120"/>
              </a:rPr>
              <a:t>OPTIMAL</a:t>
            </a:r>
            <a:endParaRPr lang="en-US" sz="1300" dirty="0"/>
          </a:p>
        </p:txBody>
      </p:sp>
      <p:sp>
        <p:nvSpPr>
          <p:cNvPr id="10" name="Text 8"/>
          <p:cNvSpPr/>
          <p:nvPr/>
        </p:nvSpPr>
        <p:spPr>
          <a:xfrm>
            <a:off x="548640" y="3172968"/>
            <a:ext cx="685800" cy="384048"/>
          </a:xfrm>
          <a:prstGeom prst="rect">
            <a:avLst/>
          </a:prstGeom>
          <a:noFill/>
          <a:ln/>
        </p:spPr>
        <p:txBody>
          <a:bodyPr wrap="square" lIns="0" tIns="0" rIns="0" bIns="0" rtlCol="0" anchor="ctr"/>
          <a:lstStyle/>
          <a:p>
            <a:pPr indent="0" marL="0">
              <a:buNone/>
            </a:pPr>
            <a:r>
              <a:rPr lang="en-US" sz="1300" dirty="0">
                <a:solidFill>
                  <a:srgbClr val="6E7687"/>
                </a:solidFill>
                <a:latin typeface="Calibri" pitchFamily="34" charset="0"/>
                <a:ea typeface="Calibri" pitchFamily="34" charset="-122"/>
                <a:cs typeface="Calibri" pitchFamily="34" charset="-120"/>
              </a:rPr>
              <a:t>0:16</a:t>
            </a:r>
            <a:endParaRPr lang="en-US" sz="1300" dirty="0"/>
          </a:p>
        </p:txBody>
      </p:sp>
      <p:sp>
        <p:nvSpPr>
          <p:cNvPr id="11" name="Text 9"/>
          <p:cNvSpPr/>
          <p:nvPr/>
        </p:nvSpPr>
        <p:spPr>
          <a:xfrm>
            <a:off x="1280160" y="3172968"/>
            <a:ext cx="320040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Stand ~30 cm closer</a:t>
            </a:r>
            <a:endParaRPr lang="en-US" sz="1300" dirty="0"/>
          </a:p>
        </p:txBody>
      </p:sp>
      <p:sp>
        <p:nvSpPr>
          <p:cNvPr id="12" name="Text 10"/>
          <p:cNvSpPr/>
          <p:nvPr/>
        </p:nvSpPr>
        <p:spPr>
          <a:xfrm>
            <a:off x="4617720" y="3172968"/>
            <a:ext cx="3794760" cy="384048"/>
          </a:xfrm>
          <a:prstGeom prst="rect">
            <a:avLst/>
          </a:prstGeom>
          <a:noFill/>
          <a:ln/>
        </p:spPr>
        <p:txBody>
          <a:bodyPr wrap="square" lIns="0" tIns="0" rIns="0" bIns="0" rtlCol="0" anchor="ctr"/>
          <a:lstStyle/>
          <a:p>
            <a:pPr indent="0" marL="0">
              <a:buNone/>
            </a:pPr>
            <a:r>
              <a:rPr lang="en-US" sz="1300" b="1" dirty="0">
                <a:solidFill>
                  <a:srgbClr val="E08A2E"/>
                </a:solidFill>
                <a:latin typeface="Calibri" pitchFamily="34" charset="0"/>
                <a:ea typeface="Calibri" pitchFamily="34" charset="-122"/>
                <a:cs typeface="Calibri" pitchFamily="34" charset="-120"/>
              </a:rPr>
              <a:t>TOO CLOSE — MOVE BACK</a:t>
            </a:r>
            <a:endParaRPr lang="en-US" sz="1300" dirty="0"/>
          </a:p>
        </p:txBody>
      </p:sp>
      <p:sp>
        <p:nvSpPr>
          <p:cNvPr id="13" name="Text 11"/>
          <p:cNvSpPr/>
          <p:nvPr/>
        </p:nvSpPr>
        <p:spPr>
          <a:xfrm>
            <a:off x="548640" y="3776472"/>
            <a:ext cx="685800" cy="384048"/>
          </a:xfrm>
          <a:prstGeom prst="rect">
            <a:avLst/>
          </a:prstGeom>
          <a:noFill/>
          <a:ln/>
        </p:spPr>
        <p:txBody>
          <a:bodyPr wrap="square" lIns="0" tIns="0" rIns="0" bIns="0" rtlCol="0" anchor="ctr"/>
          <a:lstStyle/>
          <a:p>
            <a:pPr indent="0" marL="0">
              <a:buNone/>
            </a:pPr>
            <a:r>
              <a:rPr lang="en-US" sz="1300" dirty="0">
                <a:solidFill>
                  <a:srgbClr val="6E7687"/>
                </a:solidFill>
                <a:latin typeface="Calibri" pitchFamily="34" charset="0"/>
                <a:ea typeface="Calibri" pitchFamily="34" charset="-122"/>
                <a:cs typeface="Calibri" pitchFamily="34" charset="-120"/>
              </a:rPr>
              <a:t>0:26</a:t>
            </a:r>
            <a:endParaRPr lang="en-US" sz="1300" dirty="0"/>
          </a:p>
        </p:txBody>
      </p:sp>
      <p:sp>
        <p:nvSpPr>
          <p:cNvPr id="14" name="Text 12"/>
          <p:cNvSpPr/>
          <p:nvPr/>
        </p:nvSpPr>
        <p:spPr>
          <a:xfrm>
            <a:off x="1280160" y="3776472"/>
            <a:ext cx="320040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Stand back past the reference</a:t>
            </a:r>
            <a:endParaRPr lang="en-US" sz="1300" dirty="0"/>
          </a:p>
        </p:txBody>
      </p:sp>
      <p:sp>
        <p:nvSpPr>
          <p:cNvPr id="15" name="Text 13"/>
          <p:cNvSpPr/>
          <p:nvPr/>
        </p:nvSpPr>
        <p:spPr>
          <a:xfrm>
            <a:off x="4617720" y="3776472"/>
            <a:ext cx="3794760" cy="384048"/>
          </a:xfrm>
          <a:prstGeom prst="rect">
            <a:avLst/>
          </a:prstGeom>
          <a:noFill/>
          <a:ln/>
        </p:spPr>
        <p:txBody>
          <a:bodyPr wrap="square" lIns="0" tIns="0" rIns="0" bIns="0" rtlCol="0" anchor="ctr"/>
          <a:lstStyle/>
          <a:p>
            <a:pPr indent="0" marL="0">
              <a:buNone/>
            </a:pPr>
            <a:r>
              <a:rPr lang="en-US" sz="1300" b="1" dirty="0">
                <a:solidFill>
                  <a:srgbClr val="E08A2E"/>
                </a:solidFill>
                <a:latin typeface="Calibri" pitchFamily="34" charset="0"/>
                <a:ea typeface="Calibri" pitchFamily="34" charset="-122"/>
                <a:cs typeface="Calibri" pitchFamily="34" charset="-120"/>
              </a:rPr>
              <a:t>TOO FAR — MOVE IN</a:t>
            </a:r>
            <a:endParaRPr lang="en-US" sz="1300" dirty="0"/>
          </a:p>
        </p:txBody>
      </p:sp>
      <p:sp>
        <p:nvSpPr>
          <p:cNvPr id="16" name="Text 14"/>
          <p:cNvSpPr/>
          <p:nvPr/>
        </p:nvSpPr>
        <p:spPr>
          <a:xfrm>
            <a:off x="548640" y="4379976"/>
            <a:ext cx="685800" cy="384048"/>
          </a:xfrm>
          <a:prstGeom prst="rect">
            <a:avLst/>
          </a:prstGeom>
          <a:noFill/>
          <a:ln/>
        </p:spPr>
        <p:txBody>
          <a:bodyPr wrap="square" lIns="0" tIns="0" rIns="0" bIns="0" rtlCol="0" anchor="ctr"/>
          <a:lstStyle/>
          <a:p>
            <a:pPr indent="0" marL="0">
              <a:buNone/>
            </a:pPr>
            <a:r>
              <a:rPr lang="en-US" sz="1300" dirty="0">
                <a:solidFill>
                  <a:srgbClr val="6E7687"/>
                </a:solidFill>
                <a:latin typeface="Calibri" pitchFamily="34" charset="0"/>
                <a:ea typeface="Calibri" pitchFamily="34" charset="-122"/>
                <a:cs typeface="Calibri" pitchFamily="34" charset="-120"/>
              </a:rPr>
              <a:t>0:36</a:t>
            </a:r>
            <a:endParaRPr lang="en-US" sz="1300" dirty="0"/>
          </a:p>
        </p:txBody>
      </p:sp>
      <p:sp>
        <p:nvSpPr>
          <p:cNvPr id="17" name="Text 15"/>
          <p:cNvSpPr/>
          <p:nvPr/>
        </p:nvSpPr>
        <p:spPr>
          <a:xfrm>
            <a:off x="1280160" y="4379976"/>
            <a:ext cx="320040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Return, then dim the lamp</a:t>
            </a:r>
            <a:endParaRPr lang="en-US" sz="1300" dirty="0"/>
          </a:p>
        </p:txBody>
      </p:sp>
      <p:sp>
        <p:nvSpPr>
          <p:cNvPr id="18" name="Text 16"/>
          <p:cNvSpPr/>
          <p:nvPr/>
        </p:nvSpPr>
        <p:spPr>
          <a:xfrm>
            <a:off x="4617720" y="4379976"/>
            <a:ext cx="3794760" cy="384048"/>
          </a:xfrm>
          <a:prstGeom prst="rect">
            <a:avLst/>
          </a:prstGeom>
          <a:noFill/>
          <a:ln/>
        </p:spPr>
        <p:txBody>
          <a:bodyPr wrap="square" lIns="0" tIns="0" rIns="0" bIns="0" rtlCol="0" anchor="ctr"/>
          <a:lstStyle/>
          <a:p>
            <a:pPr indent="0" marL="0">
              <a:buNone/>
            </a:pPr>
            <a:r>
              <a:rPr lang="en-US" sz="1300" b="1" dirty="0">
                <a:solidFill>
                  <a:srgbClr val="E08A2E"/>
                </a:solidFill>
                <a:latin typeface="Calibri" pitchFamily="34" charset="0"/>
                <a:ea typeface="Calibri" pitchFamily="34" charset="-122"/>
                <a:cs typeface="Calibri" pitchFamily="34" charset="-120"/>
              </a:rPr>
              <a:t>UNDERLIT — INCREASE OUTPUT</a:t>
            </a:r>
            <a:endParaRPr lang="en-US" sz="1300" dirty="0"/>
          </a:p>
        </p:txBody>
      </p:sp>
      <p:sp>
        <p:nvSpPr>
          <p:cNvPr id="19" name="Text 17"/>
          <p:cNvSpPr/>
          <p:nvPr/>
        </p:nvSpPr>
        <p:spPr>
          <a:xfrm>
            <a:off x="548640" y="4983480"/>
            <a:ext cx="685800" cy="384048"/>
          </a:xfrm>
          <a:prstGeom prst="rect">
            <a:avLst/>
          </a:prstGeom>
          <a:noFill/>
          <a:ln/>
        </p:spPr>
        <p:txBody>
          <a:bodyPr wrap="square" lIns="0" tIns="0" rIns="0" bIns="0" rtlCol="0" anchor="ctr"/>
          <a:lstStyle/>
          <a:p>
            <a:pPr indent="0" marL="0">
              <a:buNone/>
            </a:pPr>
            <a:r>
              <a:rPr lang="en-US" sz="1300" dirty="0">
                <a:solidFill>
                  <a:srgbClr val="6E7687"/>
                </a:solidFill>
                <a:latin typeface="Calibri" pitchFamily="34" charset="0"/>
                <a:ea typeface="Calibri" pitchFamily="34" charset="-122"/>
                <a:cs typeface="Calibri" pitchFamily="34" charset="-120"/>
              </a:rPr>
              <a:t>0:46</a:t>
            </a:r>
            <a:endParaRPr lang="en-US" sz="1300" dirty="0"/>
          </a:p>
        </p:txBody>
      </p:sp>
      <p:sp>
        <p:nvSpPr>
          <p:cNvPr id="20" name="Text 18"/>
          <p:cNvSpPr/>
          <p:nvPr/>
        </p:nvSpPr>
        <p:spPr>
          <a:xfrm>
            <a:off x="1280160" y="4983480"/>
            <a:ext cx="320040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Brighten above the reference</a:t>
            </a:r>
            <a:endParaRPr lang="en-US" sz="1300" dirty="0"/>
          </a:p>
        </p:txBody>
      </p:sp>
      <p:sp>
        <p:nvSpPr>
          <p:cNvPr id="21" name="Text 19"/>
          <p:cNvSpPr/>
          <p:nvPr/>
        </p:nvSpPr>
        <p:spPr>
          <a:xfrm>
            <a:off x="4617720" y="4983480"/>
            <a:ext cx="3794760" cy="384048"/>
          </a:xfrm>
          <a:prstGeom prst="rect">
            <a:avLst/>
          </a:prstGeom>
          <a:noFill/>
          <a:ln/>
        </p:spPr>
        <p:txBody>
          <a:bodyPr wrap="square" lIns="0" tIns="0" rIns="0" bIns="0" rtlCol="0" anchor="ctr"/>
          <a:lstStyle/>
          <a:p>
            <a:pPr indent="0" marL="0">
              <a:buNone/>
            </a:pPr>
            <a:r>
              <a:rPr lang="en-US" sz="1300" b="1" dirty="0">
                <a:solidFill>
                  <a:srgbClr val="E08A2E"/>
                </a:solidFill>
                <a:latin typeface="Calibri" pitchFamily="34" charset="0"/>
                <a:ea typeface="Calibri" pitchFamily="34" charset="-122"/>
                <a:cs typeface="Calibri" pitchFamily="34" charset="-120"/>
              </a:rPr>
              <a:t>OVERLIT — REDUCE OUTPUT</a:t>
            </a:r>
            <a:endParaRPr lang="en-US" sz="1300" dirty="0"/>
          </a:p>
        </p:txBody>
      </p:sp>
      <p:sp>
        <p:nvSpPr>
          <p:cNvPr id="22" name="Text 20"/>
          <p:cNvSpPr/>
          <p:nvPr/>
        </p:nvSpPr>
        <p:spPr>
          <a:xfrm>
            <a:off x="548640" y="5586984"/>
            <a:ext cx="685800" cy="384048"/>
          </a:xfrm>
          <a:prstGeom prst="rect">
            <a:avLst/>
          </a:prstGeom>
          <a:noFill/>
          <a:ln/>
        </p:spPr>
        <p:txBody>
          <a:bodyPr wrap="square" lIns="0" tIns="0" rIns="0" bIns="0" rtlCol="0" anchor="ctr"/>
          <a:lstStyle/>
          <a:p>
            <a:pPr indent="0" marL="0">
              <a:buNone/>
            </a:pPr>
            <a:r>
              <a:rPr lang="en-US" sz="1300" dirty="0">
                <a:solidFill>
                  <a:srgbClr val="6E7687"/>
                </a:solidFill>
                <a:latin typeface="Calibri" pitchFamily="34" charset="0"/>
                <a:ea typeface="Calibri" pitchFamily="34" charset="-122"/>
                <a:cs typeface="Calibri" pitchFamily="34" charset="-120"/>
              </a:rPr>
              <a:t>0:54</a:t>
            </a:r>
            <a:endParaRPr lang="en-US" sz="1300" dirty="0"/>
          </a:p>
        </p:txBody>
      </p:sp>
      <p:sp>
        <p:nvSpPr>
          <p:cNvPr id="23" name="Text 21"/>
          <p:cNvSpPr/>
          <p:nvPr/>
        </p:nvSpPr>
        <p:spPr>
          <a:xfrm>
            <a:off x="1280160" y="5586984"/>
            <a:ext cx="320040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Restore the reference setup</a:t>
            </a:r>
            <a:endParaRPr lang="en-US" sz="1300" dirty="0"/>
          </a:p>
        </p:txBody>
      </p:sp>
      <p:sp>
        <p:nvSpPr>
          <p:cNvPr id="24" name="Text 22"/>
          <p:cNvSpPr/>
          <p:nvPr/>
        </p:nvSpPr>
        <p:spPr>
          <a:xfrm>
            <a:off x="4617720" y="5586984"/>
            <a:ext cx="3794760" cy="384048"/>
          </a:xfrm>
          <a:prstGeom prst="rect">
            <a:avLst/>
          </a:prstGeom>
          <a:noFill/>
          <a:ln/>
        </p:spPr>
        <p:txBody>
          <a:bodyPr wrap="square" lIns="0" tIns="0" rIns="0" bIns="0" rtlCol="0" anchor="ctr"/>
          <a:lstStyle/>
          <a:p>
            <a:pPr indent="0" marL="0">
              <a:buNone/>
            </a:pPr>
            <a:r>
              <a:rPr lang="en-US" sz="1300" b="1" dirty="0">
                <a:solidFill>
                  <a:srgbClr val="E08A2E"/>
                </a:solidFill>
                <a:latin typeface="Calibri" pitchFamily="34" charset="0"/>
                <a:ea typeface="Calibri" pitchFamily="34" charset="-122"/>
                <a:cs typeface="Calibri" pitchFamily="34" charset="-120"/>
              </a:rPr>
              <a:t>OPTIMAL</a:t>
            </a:r>
            <a:endParaRPr lang="en-US" sz="1300" dirty="0"/>
          </a:p>
        </p:txBody>
      </p:sp>
      <p:pic>
        <p:nvPicPr>
          <p:cNvPr id="25" name="Image 0" descr="C:\Users\vishn\OneDrive\Desktop\Edge Setup\LightGuide-Edge\reports\figures\rig\oled_optimal.jpeg">    </p:cNvPr>
          <p:cNvPicPr>
            <a:picLocks noChangeAspect="1"/>
          </p:cNvPicPr>
          <p:nvPr/>
        </p:nvPicPr>
        <p:blipFill>
          <a:blip r:embed="rId1"/>
          <a:srcRect l="0" r="0" t="0" b="0"/>
          <a:stretch/>
        </p:blipFill>
        <p:spPr>
          <a:xfrm>
            <a:off x="8641080" y="1874520"/>
            <a:ext cx="2999232" cy="3977640"/>
          </a:xfrm>
          <a:prstGeom prst="rect">
            <a:avLst/>
          </a:prstGeom>
        </p:spPr>
      </p:pic>
      <p:sp>
        <p:nvSpPr>
          <p:cNvPr id="26" name="Text 23"/>
          <p:cNvSpPr/>
          <p:nvPr/>
        </p:nvSpPr>
        <p:spPr>
          <a:xfrm>
            <a:off x="548640" y="6144768"/>
            <a:ext cx="11094415" cy="365760"/>
          </a:xfrm>
          <a:prstGeom prst="rect">
            <a:avLst/>
          </a:prstGeom>
          <a:noFill/>
          <a:ln/>
        </p:spPr>
        <p:txBody>
          <a:bodyPr wrap="square" lIns="0" tIns="0" rIns="0" bIns="0" rtlCol="0" anchor="ctr"/>
          <a:lstStyle/>
          <a:p>
            <a:pPr indent="0" marL="0">
              <a:buNone/>
            </a:pPr>
            <a:r>
              <a:rPr lang="en-US" sz="1200" i="1" dirty="0">
                <a:solidFill>
                  <a:srgbClr val="9AA3B2"/>
                </a:solidFill>
                <a:latin typeface="Calibri" pitchFamily="34" charset="0"/>
                <a:ea typeface="Calibri" pitchFamily="34" charset="-122"/>
                <a:cs typeface="Calibri" pitchFamily="34" charset="-120"/>
              </a:rPr>
              <a:t>All five classes in under 60 seconds, hardware visibly responding to a physical change.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A2E"/>
        </a:solidFill>
      </p:bgPr>
    </p:bg>
    <p:spTree>
      <p:nvGrpSpPr>
        <p:cNvPr id="1" name=""/>
        <p:cNvGrpSpPr/>
        <p:nvPr/>
      </p:nvGrpSpPr>
      <p:grpSpPr>
        <a:xfrm>
          <a:off x="0" y="0"/>
          <a:ext cx="0" cy="0"/>
          <a:chOff x="0" y="0"/>
          <a:chExt cx="0" cy="0"/>
        </a:xfrm>
      </p:grpSpPr>
      <p:sp>
        <p:nvSpPr>
          <p:cNvPr id="2" name="Text 0"/>
          <p:cNvSpPr/>
          <p:nvPr/>
        </p:nvSpPr>
        <p:spPr>
          <a:xfrm>
            <a:off x="548640" y="502920"/>
            <a:ext cx="11094415"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Conclusion</a:t>
            </a:r>
            <a:endParaRPr lang="en-US" sz="3800" dirty="0"/>
          </a:p>
        </p:txBody>
      </p:sp>
      <p:sp>
        <p:nvSpPr>
          <p:cNvPr id="3" name="Text 1"/>
          <p:cNvSpPr/>
          <p:nvPr/>
        </p:nvSpPr>
        <p:spPr>
          <a:xfrm>
            <a:off x="548640" y="1234440"/>
            <a:ext cx="10058400" cy="685800"/>
          </a:xfrm>
          <a:prstGeom prst="rect">
            <a:avLst/>
          </a:prstGeom>
          <a:noFill/>
          <a:ln/>
        </p:spPr>
        <p:txBody>
          <a:bodyPr wrap="square" lIns="0" tIns="0" rIns="0" bIns="0" rtlCol="0" anchor="ctr"/>
          <a:lstStyle/>
          <a:p>
            <a:pPr indent="0" marL="0">
              <a:buNone/>
            </a:pPr>
            <a:r>
              <a:rPr lang="en-US" sz="1600" dirty="0">
                <a:solidFill>
                  <a:srgbClr val="E08A2E"/>
                </a:solidFill>
                <a:latin typeface="Calibri" pitchFamily="34" charset="0"/>
                <a:ea typeface="Calibri" pitchFamily="34" charset="-122"/>
                <a:cs typeface="Calibri" pitchFamily="34" charset="-120"/>
              </a:rPr>
              <a:t>A £30 camera-free device that classifies five lighting-setup faults on-device at 20.8 µs, held-out macro-F1 0.868, using 12.3% of flash.</a:t>
            </a:r>
            <a:endParaRPr lang="en-US" sz="1600" dirty="0"/>
          </a:p>
        </p:txBody>
      </p:sp>
      <p:sp>
        <p:nvSpPr>
          <p:cNvPr id="4" name="Shape 2"/>
          <p:cNvSpPr/>
          <p:nvPr/>
        </p:nvSpPr>
        <p:spPr>
          <a:xfrm>
            <a:off x="548640" y="2286000"/>
            <a:ext cx="5532120" cy="1627632"/>
          </a:xfrm>
          <a:prstGeom prst="roundRect">
            <a:avLst>
              <a:gd name="adj" fmla="val 4494"/>
            </a:avLst>
          </a:prstGeom>
          <a:solidFill>
            <a:srgbClr val="1E2540"/>
          </a:solidFill>
          <a:ln w="12700">
            <a:solidFill>
              <a:srgbClr val="1E2540"/>
            </a:solidFill>
            <a:prstDash val="solid"/>
          </a:ln>
        </p:spPr>
      </p:sp>
      <p:sp>
        <p:nvSpPr>
          <p:cNvPr id="5" name="Text 3"/>
          <p:cNvSpPr/>
          <p:nvPr/>
        </p:nvSpPr>
        <p:spPr>
          <a:xfrm>
            <a:off x="749808" y="2414016"/>
            <a:ext cx="5120640" cy="274320"/>
          </a:xfrm>
          <a:prstGeom prst="rect">
            <a:avLst/>
          </a:prstGeom>
          <a:noFill/>
          <a:ln/>
        </p:spPr>
        <p:txBody>
          <a:bodyPr wrap="square" lIns="0" tIns="0" rIns="0" bIns="0" rtlCol="0" anchor="ctr"/>
          <a:lstStyle/>
          <a:p>
            <a:pPr indent="0" marL="0">
              <a:buNone/>
            </a:pPr>
            <a:r>
              <a:rPr lang="en-US" sz="1300" b="1" dirty="0">
                <a:solidFill>
                  <a:srgbClr val="E08A2E"/>
                </a:solidFill>
                <a:latin typeface="Calibri" pitchFamily="34" charset="0"/>
                <a:ea typeface="Calibri" pitchFamily="34" charset="-122"/>
                <a:cs typeface="Calibri" pitchFamily="34" charset="-120"/>
              </a:rPr>
              <a:t>Boundary sweep</a:t>
            </a:r>
            <a:endParaRPr lang="en-US" sz="1300" dirty="0"/>
          </a:p>
        </p:txBody>
      </p:sp>
      <p:sp>
        <p:nvSpPr>
          <p:cNvPr id="6" name="Text 4"/>
          <p:cNvSpPr/>
          <p:nvPr/>
        </p:nvSpPr>
        <p:spPr>
          <a:xfrm>
            <a:off x="749808" y="2706624"/>
            <a:ext cx="5120640" cy="1078992"/>
          </a:xfrm>
          <a:prstGeom prst="rect">
            <a:avLst/>
          </a:prstGeom>
          <a:noFill/>
          <a:ln/>
        </p:spPr>
        <p:txBody>
          <a:bodyPr wrap="square" lIns="0" tIns="0" rIns="0" bIns="0" rtlCol="0" anchor="ctr"/>
          <a:lstStyle/>
          <a:p>
            <a:pPr indent="0" marL="0">
              <a:buNone/>
            </a:pPr>
            <a:r>
              <a:rPr lang="en-US" sz="1100" dirty="0">
                <a:solidFill>
                  <a:srgbClr val="C9D0DD"/>
                </a:solidFill>
                <a:latin typeface="Calibri" pitchFamily="34" charset="0"/>
                <a:ea typeface="Calibri" pitchFamily="34" charset="-122"/>
                <a:cs typeface="Calibri" pitchFamily="34" charset="-120"/>
              </a:rPr>
              <a:t>Stage too_far at +4, +6 and +10 cm instead of +30 and measure where on-device accuracy actually breaks. The offline test cannot answer this — it depends on settling behaviour a CSV replay never sees.</a:t>
            </a:r>
            <a:endParaRPr lang="en-US" sz="1100" dirty="0"/>
          </a:p>
        </p:txBody>
      </p:sp>
      <p:sp>
        <p:nvSpPr>
          <p:cNvPr id="7" name="Shape 5"/>
          <p:cNvSpPr/>
          <p:nvPr/>
        </p:nvSpPr>
        <p:spPr>
          <a:xfrm>
            <a:off x="6355080" y="2286000"/>
            <a:ext cx="5532120" cy="1627632"/>
          </a:xfrm>
          <a:prstGeom prst="roundRect">
            <a:avLst>
              <a:gd name="adj" fmla="val 4494"/>
            </a:avLst>
          </a:prstGeom>
          <a:solidFill>
            <a:srgbClr val="1E2540"/>
          </a:solidFill>
          <a:ln w="12700">
            <a:solidFill>
              <a:srgbClr val="1E2540"/>
            </a:solidFill>
            <a:prstDash val="solid"/>
          </a:ln>
        </p:spPr>
      </p:sp>
      <p:sp>
        <p:nvSpPr>
          <p:cNvPr id="8" name="Text 6"/>
          <p:cNvSpPr/>
          <p:nvPr/>
        </p:nvSpPr>
        <p:spPr>
          <a:xfrm>
            <a:off x="6556248" y="2414016"/>
            <a:ext cx="5120640" cy="274320"/>
          </a:xfrm>
          <a:prstGeom prst="rect">
            <a:avLst/>
          </a:prstGeom>
          <a:noFill/>
          <a:ln/>
        </p:spPr>
        <p:txBody>
          <a:bodyPr wrap="square" lIns="0" tIns="0" rIns="0" bIns="0" rtlCol="0" anchor="ctr"/>
          <a:lstStyle/>
          <a:p>
            <a:pPr indent="0" marL="0">
              <a:buNone/>
            </a:pPr>
            <a:r>
              <a:rPr lang="en-US" sz="1300" b="1" dirty="0">
                <a:solidFill>
                  <a:srgbClr val="E08A2E"/>
                </a:solidFill>
                <a:latin typeface="Calibri" pitchFamily="34" charset="0"/>
                <a:ea typeface="Calibri" pitchFamily="34" charset="-122"/>
                <a:cs typeface="Calibri" pitchFamily="34" charset="-120"/>
              </a:rPr>
              <a:t>Fix the novelty gate</a:t>
            </a:r>
            <a:endParaRPr lang="en-US" sz="1300" dirty="0"/>
          </a:p>
        </p:txBody>
      </p:sp>
      <p:sp>
        <p:nvSpPr>
          <p:cNvPr id="9" name="Text 7"/>
          <p:cNvSpPr/>
          <p:nvPr/>
        </p:nvSpPr>
        <p:spPr>
          <a:xfrm>
            <a:off x="6556248" y="2706624"/>
            <a:ext cx="5120640" cy="1078992"/>
          </a:xfrm>
          <a:prstGeom prst="rect">
            <a:avLst/>
          </a:prstGeom>
          <a:noFill/>
          <a:ln/>
        </p:spPr>
        <p:txBody>
          <a:bodyPr wrap="square" lIns="0" tIns="0" rIns="0" bIns="0" rtlCol="0" anchor="ctr"/>
          <a:lstStyle/>
          <a:p>
            <a:pPr indent="0" marL="0">
              <a:buNone/>
            </a:pPr>
            <a:r>
              <a:rPr lang="en-US" sz="1100" dirty="0">
                <a:solidFill>
                  <a:srgbClr val="C9D0DD"/>
                </a:solidFill>
                <a:latin typeface="Calibri" pitchFamily="34" charset="0"/>
                <a:ea typeface="Calibri" pitchFamily="34" charset="-122"/>
                <a:cs typeface="Calibri" pitchFamily="34" charset="-120"/>
              </a:rPr>
              <a:t>M2 recall 0.169 is too low to ship. Either lower the threshold and re-measure precision, or replace the autoencoder with a distance-to-training-manifold test.</a:t>
            </a:r>
            <a:endParaRPr lang="en-US" sz="1100" dirty="0"/>
          </a:p>
        </p:txBody>
      </p:sp>
      <p:sp>
        <p:nvSpPr>
          <p:cNvPr id="10" name="Shape 8"/>
          <p:cNvSpPr/>
          <p:nvPr/>
        </p:nvSpPr>
        <p:spPr>
          <a:xfrm>
            <a:off x="548640" y="4114800"/>
            <a:ext cx="5532120" cy="1627632"/>
          </a:xfrm>
          <a:prstGeom prst="roundRect">
            <a:avLst>
              <a:gd name="adj" fmla="val 4494"/>
            </a:avLst>
          </a:prstGeom>
          <a:solidFill>
            <a:srgbClr val="1E2540"/>
          </a:solidFill>
          <a:ln w="12700">
            <a:solidFill>
              <a:srgbClr val="1E2540"/>
            </a:solidFill>
            <a:prstDash val="solid"/>
          </a:ln>
        </p:spPr>
      </p:sp>
      <p:sp>
        <p:nvSpPr>
          <p:cNvPr id="11" name="Text 9"/>
          <p:cNvSpPr/>
          <p:nvPr/>
        </p:nvSpPr>
        <p:spPr>
          <a:xfrm>
            <a:off x="749808" y="4242816"/>
            <a:ext cx="5120640" cy="274320"/>
          </a:xfrm>
          <a:prstGeom prst="rect">
            <a:avLst/>
          </a:prstGeom>
          <a:noFill/>
          <a:ln/>
        </p:spPr>
        <p:txBody>
          <a:bodyPr wrap="square" lIns="0" tIns="0" rIns="0" bIns="0" rtlCol="0" anchor="ctr"/>
          <a:lstStyle/>
          <a:p>
            <a:pPr indent="0" marL="0">
              <a:buNone/>
            </a:pPr>
            <a:r>
              <a:rPr lang="en-US" sz="1300" b="1" dirty="0">
                <a:solidFill>
                  <a:srgbClr val="E08A2E"/>
                </a:solidFill>
                <a:latin typeface="Calibri" pitchFamily="34" charset="0"/>
                <a:ea typeface="Calibri" pitchFamily="34" charset="-122"/>
                <a:cs typeface="Calibri" pitchFamily="34" charset="-120"/>
              </a:rPr>
              <a:t>Widen the ultrasonic target</a:t>
            </a:r>
            <a:endParaRPr lang="en-US" sz="1300" dirty="0"/>
          </a:p>
        </p:txBody>
      </p:sp>
      <p:sp>
        <p:nvSpPr>
          <p:cNvPr id="12" name="Text 10"/>
          <p:cNvSpPr/>
          <p:nvPr/>
        </p:nvSpPr>
        <p:spPr>
          <a:xfrm>
            <a:off x="749808" y="4535424"/>
            <a:ext cx="5120640" cy="1078992"/>
          </a:xfrm>
          <a:prstGeom prst="rect">
            <a:avLst/>
          </a:prstGeom>
          <a:noFill/>
          <a:ln/>
        </p:spPr>
        <p:txBody>
          <a:bodyPr wrap="square" lIns="0" tIns="0" rIns="0" bIns="0" rtlCol="0" anchor="ctr"/>
          <a:lstStyle/>
          <a:p>
            <a:pPr indent="0" marL="0">
              <a:buNone/>
            </a:pPr>
            <a:r>
              <a:rPr lang="en-US" sz="1100" dirty="0">
                <a:solidFill>
                  <a:srgbClr val="C9D0DD"/>
                </a:solidFill>
                <a:latin typeface="Calibri" pitchFamily="34" charset="0"/>
                <a:ea typeface="Calibri" pitchFamily="34" charset="-122"/>
                <a:cs typeface="Calibri" pitchFamily="34" charset="-120"/>
              </a:rPr>
              <a:t>A larger or textured reference surface should extend usable range past the measured 160 cm limit.</a:t>
            </a:r>
            <a:endParaRPr lang="en-US" sz="1100" dirty="0"/>
          </a:p>
        </p:txBody>
      </p:sp>
      <p:sp>
        <p:nvSpPr>
          <p:cNvPr id="13" name="Shape 11"/>
          <p:cNvSpPr/>
          <p:nvPr/>
        </p:nvSpPr>
        <p:spPr>
          <a:xfrm>
            <a:off x="6355080" y="4114800"/>
            <a:ext cx="5532120" cy="1627632"/>
          </a:xfrm>
          <a:prstGeom prst="roundRect">
            <a:avLst>
              <a:gd name="adj" fmla="val 4494"/>
            </a:avLst>
          </a:prstGeom>
          <a:solidFill>
            <a:srgbClr val="1E2540"/>
          </a:solidFill>
          <a:ln w="12700">
            <a:solidFill>
              <a:srgbClr val="1E2540"/>
            </a:solidFill>
            <a:prstDash val="solid"/>
          </a:ln>
        </p:spPr>
      </p:sp>
      <p:sp>
        <p:nvSpPr>
          <p:cNvPr id="14" name="Text 12"/>
          <p:cNvSpPr/>
          <p:nvPr/>
        </p:nvSpPr>
        <p:spPr>
          <a:xfrm>
            <a:off x="6556248" y="4242816"/>
            <a:ext cx="5120640" cy="274320"/>
          </a:xfrm>
          <a:prstGeom prst="rect">
            <a:avLst/>
          </a:prstGeom>
          <a:noFill/>
          <a:ln/>
        </p:spPr>
        <p:txBody>
          <a:bodyPr wrap="square" lIns="0" tIns="0" rIns="0" bIns="0" rtlCol="0" anchor="ctr"/>
          <a:lstStyle/>
          <a:p>
            <a:pPr indent="0" marL="0">
              <a:buNone/>
            </a:pPr>
            <a:r>
              <a:rPr lang="en-US" sz="1300" b="1" dirty="0">
                <a:solidFill>
                  <a:srgbClr val="E08A2E"/>
                </a:solidFill>
                <a:latin typeface="Calibri" pitchFamily="34" charset="0"/>
                <a:ea typeface="Calibri" pitchFamily="34" charset="-122"/>
                <a:cs typeface="Calibri" pitchFamily="34" charset="-120"/>
              </a:rPr>
              <a:t>Collect tilt_off</a:t>
            </a:r>
            <a:endParaRPr lang="en-US" sz="1300" dirty="0"/>
          </a:p>
        </p:txBody>
      </p:sp>
      <p:sp>
        <p:nvSpPr>
          <p:cNvPr id="15" name="Text 13"/>
          <p:cNvSpPr/>
          <p:nvPr/>
        </p:nvSpPr>
        <p:spPr>
          <a:xfrm>
            <a:off x="6556248" y="4535424"/>
            <a:ext cx="5120640" cy="1078992"/>
          </a:xfrm>
          <a:prstGeom prst="rect">
            <a:avLst/>
          </a:prstGeom>
          <a:noFill/>
          <a:ln/>
        </p:spPr>
        <p:txBody>
          <a:bodyPr wrap="square" lIns="0" tIns="0" rIns="0" bIns="0" rtlCol="0" anchor="ctr"/>
          <a:lstStyle/>
          <a:p>
            <a:pPr indent="0" marL="0">
              <a:buNone/>
            </a:pPr>
            <a:r>
              <a:rPr lang="en-US" sz="1100" dirty="0">
                <a:solidFill>
                  <a:srgbClr val="C9D0DD"/>
                </a:solidFill>
                <a:latin typeface="Calibri" pitchFamily="34" charset="0"/>
                <a:ea typeface="Calibri" pitchFamily="34" charset="-122"/>
                <a:cs typeface="Calibri" pitchFamily="34" charset="-120"/>
              </a:rPr>
              <a:t>The sixth class was cut for scope. The IMU is already on the board and already read.</a:t>
            </a:r>
            <a:endParaRPr lang="en-US" sz="1100" dirty="0"/>
          </a:p>
        </p:txBody>
      </p:sp>
      <p:sp>
        <p:nvSpPr>
          <p:cNvPr id="16" name="Text 14"/>
          <p:cNvSpPr/>
          <p:nvPr/>
        </p:nvSpPr>
        <p:spPr>
          <a:xfrm>
            <a:off x="548640" y="6144768"/>
            <a:ext cx="11094415" cy="320040"/>
          </a:xfrm>
          <a:prstGeom prst="rect">
            <a:avLst/>
          </a:prstGeom>
          <a:noFill/>
          <a:ln/>
        </p:spPr>
        <p:txBody>
          <a:bodyPr wrap="square" lIns="0" tIns="0" rIns="0" bIns="0" rtlCol="0" anchor="ctr"/>
          <a:lstStyle/>
          <a:p>
            <a:pPr indent="0" marL="0">
              <a:buNone/>
            </a:pPr>
            <a:r>
              <a:rPr lang="en-US" sz="1100" i="1" dirty="0">
                <a:solidFill>
                  <a:srgbClr val="9AA3B2"/>
                </a:solidFill>
                <a:latin typeface="Calibri" pitchFamily="34" charset="0"/>
                <a:ea typeface="Calibri" pitchFamily="34" charset="-122"/>
                <a:cs typeface="Calibri" pitchFamily="34" charset="-120"/>
              </a:rPr>
              <a:t>Every item above is tied to a number measured in this project, not a wish list.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References</a:t>
            </a:r>
            <a:endParaRPr lang="en-US" sz="34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indent="0" marL="0">
              <a:buNone/>
            </a:pPr>
            <a:r>
              <a:rPr lang="en-US" sz="1400" dirty="0">
                <a:solidFill>
                  <a:srgbClr val="6E7687"/>
                </a:solidFill>
                <a:latin typeface="Calibri" pitchFamily="34" charset="0"/>
                <a:ea typeface="Calibri" pitchFamily="34" charset="-122"/>
                <a:cs typeface="Calibri" pitchFamily="34" charset="-120"/>
              </a:rPr>
              <a:t>Harvard · left on screen during Q&amp;A</a:t>
            </a:r>
            <a:endParaRPr lang="en-US" sz="1400" dirty="0"/>
          </a:p>
        </p:txBody>
      </p:sp>
      <p:sp>
        <p:nvSpPr>
          <p:cNvPr id="4" name="Text 2"/>
          <p:cNvSpPr/>
          <p:nvPr/>
        </p:nvSpPr>
        <p:spPr>
          <a:xfrm>
            <a:off x="548640" y="1600200"/>
            <a:ext cx="11094415" cy="2926080"/>
          </a:xfrm>
          <a:prstGeom prst="rect">
            <a:avLst/>
          </a:prstGeom>
          <a:noFill/>
          <a:ln/>
        </p:spPr>
        <p:txBody>
          <a:bodyPr wrap="square" lIns="0" tIns="0" rIns="0" bIns="0" rtlCol="0" anchor="t"/>
          <a:lstStyle/>
          <a:p>
            <a:pPr indent="0" marL="0">
              <a:spcAft>
                <a:spcPts val="1200"/>
              </a:spcAft>
              <a:buNone/>
            </a:pPr>
            <a:r>
              <a:rPr lang="en-US" sz="1400" dirty="0">
                <a:solidFill>
                  <a:srgbClr val="141A2E"/>
                </a:solidFill>
                <a:latin typeface="Calibri" pitchFamily="34" charset="0"/>
                <a:ea typeface="Calibri" pitchFamily="34" charset="-122"/>
                <a:cs typeface="Calibri" pitchFamily="34" charset="-120"/>
              </a:rPr>
              <a:t>Buyya, R. and Srirama, S.N. (eds.) (2019) Fog and Edge Computing: Principles and Paradigms. Hoboken, NJ: John Wiley &amp; Sons.</a:t>
            </a:r>
            <a:endParaRPr lang="en-US" sz="1400" dirty="0"/>
          </a:p>
          <a:p>
            <a:pPr indent="0" marL="0">
              <a:spcAft>
                <a:spcPts val="1200"/>
              </a:spcAft>
              <a:buNone/>
            </a:pPr>
            <a:r>
              <a:rPr lang="en-US" sz="1400" dirty="0">
                <a:solidFill>
                  <a:srgbClr val="141A2E"/>
                </a:solidFill>
                <a:latin typeface="Calibri" pitchFamily="34" charset="0"/>
                <a:ea typeface="Calibri" pitchFamily="34" charset="-122"/>
                <a:cs typeface="Calibri" pitchFamily="34" charset="-120"/>
              </a:rPr>
              <a:t>Iodice, G.M. (2023) TinyML Cookbook: Combine artificial intelligence and ultra-low-power embedded devices to make the world smarter. 2nd edn. Birmingham: Packt Publishing.</a:t>
            </a:r>
            <a:endParaRPr lang="en-US" sz="1400" dirty="0"/>
          </a:p>
          <a:p>
            <a:pPr indent="0" marL="0">
              <a:spcAft>
                <a:spcPts val="1200"/>
              </a:spcAft>
              <a:buNone/>
            </a:pPr>
            <a:r>
              <a:rPr lang="en-US" sz="1400" dirty="0">
                <a:solidFill>
                  <a:srgbClr val="141A2E"/>
                </a:solidFill>
                <a:latin typeface="Calibri" pitchFamily="34" charset="0"/>
                <a:ea typeface="Calibri" pitchFamily="34" charset="-122"/>
                <a:cs typeface="Calibri" pitchFamily="34" charset="-120"/>
              </a:rPr>
              <a:t>Situnayake, D. and Plunkett, J. (2022) AI at the Edge. Sebastopol, CA: O'Reilly Media.</a:t>
            </a:r>
            <a:endParaRPr lang="en-US" sz="1400" dirty="0"/>
          </a:p>
          <a:p>
            <a:pPr indent="0" marL="0">
              <a:spcAft>
                <a:spcPts val="1200"/>
              </a:spcAft>
              <a:buNone/>
            </a:pPr>
            <a:r>
              <a:rPr lang="en-US" sz="1400" dirty="0">
                <a:solidFill>
                  <a:srgbClr val="141A2E"/>
                </a:solidFill>
                <a:latin typeface="Calibri" pitchFamily="34" charset="0"/>
                <a:ea typeface="Calibri" pitchFamily="34" charset="-122"/>
                <a:cs typeface="Calibri" pitchFamily="34" charset="-120"/>
              </a:rPr>
              <a:t>Warden, P. and Situnayake, D. (2019) TinyML: Machine Learning with TensorFlow Lite on Arduino and Ultra-Low-Power Microcontrollers. Sebastopol, CA: O'Reilly Media.</a:t>
            </a:r>
            <a:endParaRPr lang="en-US" sz="1400" dirty="0"/>
          </a:p>
        </p:txBody>
      </p:sp>
      <p:sp>
        <p:nvSpPr>
          <p:cNvPr id="5" name="Shape 3"/>
          <p:cNvSpPr/>
          <p:nvPr/>
        </p:nvSpPr>
        <p:spPr>
          <a:xfrm>
            <a:off x="548640" y="4709160"/>
            <a:ext cx="11094415" cy="1600200"/>
          </a:xfrm>
          <a:prstGeom prst="roundRect">
            <a:avLst>
              <a:gd name="adj" fmla="val 4571"/>
            </a:avLst>
          </a:prstGeom>
          <a:solidFill>
            <a:srgbClr val="F3F5F9"/>
          </a:solidFill>
          <a:ln w="12700">
            <a:solidFill>
              <a:srgbClr val="F3F5F9"/>
            </a:solidFill>
            <a:prstDash val="solid"/>
          </a:ln>
        </p:spPr>
      </p:sp>
      <p:sp>
        <p:nvSpPr>
          <p:cNvPr id="6" name="Text 4"/>
          <p:cNvSpPr/>
          <p:nvPr/>
        </p:nvSpPr>
        <p:spPr>
          <a:xfrm>
            <a:off x="749808" y="4855464"/>
            <a:ext cx="10692079" cy="310896"/>
          </a:xfrm>
          <a:prstGeom prst="rect">
            <a:avLst/>
          </a:prstGeom>
          <a:noFill/>
          <a:ln/>
        </p:spPr>
        <p:txBody>
          <a:bodyPr wrap="square" lIns="0" tIns="0" rIns="0" bIns="0" rtlCol="0" anchor="ctr"/>
          <a:lstStyle/>
          <a:p>
            <a:pPr indent="0" marL="0">
              <a:buNone/>
            </a:pPr>
            <a:r>
              <a:rPr lang="en-US" sz="1400" b="1" dirty="0">
                <a:solidFill>
                  <a:srgbClr val="6E7687"/>
                </a:solidFill>
                <a:latin typeface="Calibri" pitchFamily="34" charset="0"/>
                <a:ea typeface="Calibri" pitchFamily="34" charset="-122"/>
                <a:cs typeface="Calibri" pitchFamily="34" charset="-120"/>
              </a:rPr>
              <a:t>Technical documentation</a:t>
            </a:r>
            <a:endParaRPr lang="en-US" sz="1400" dirty="0"/>
          </a:p>
        </p:txBody>
      </p:sp>
      <p:sp>
        <p:nvSpPr>
          <p:cNvPr id="7" name="Text 5"/>
          <p:cNvSpPr/>
          <p:nvPr/>
        </p:nvSpPr>
        <p:spPr>
          <a:xfrm>
            <a:off x="749808" y="5184648"/>
            <a:ext cx="10692079" cy="960120"/>
          </a:xfrm>
          <a:prstGeom prst="rect">
            <a:avLst/>
          </a:prstGeom>
          <a:noFill/>
          <a:ln/>
        </p:spPr>
        <p:txBody>
          <a:bodyPr wrap="square" lIns="0" tIns="0" rIns="0" bIns="0" rtlCol="0" anchor="t"/>
          <a:lstStyle/>
          <a:p>
            <a:pPr indent="0" marL="0">
              <a:buNone/>
            </a:pPr>
            <a:r>
              <a:rPr lang="en-US" sz="1200" dirty="0">
                <a:solidFill>
                  <a:srgbClr val="141A2E"/>
                </a:solidFill>
                <a:latin typeface="Calibri" pitchFamily="34" charset="0"/>
                <a:ea typeface="Calibri" pitchFamily="34" charset="-122"/>
                <a:cs typeface="Calibri" pitchFamily="34" charset="-120"/>
              </a:rPr>
              <a:t>Arduino Nano 33 BLE Sense documentation · Nordic Semiconductor nRF52840 datasheet · Edge Impulse documentation · TensorFlow Lite for Microcontrollers documentation · HC-SR04 and GL5528 component datasheets.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LightGuide Edge</dc:title>
  <dc:subject>PptxGenJS Presentation</dc:subject>
  <dc:creator>Vishnu Vekariya</dc:creator>
  <cp:lastModifiedBy>Vishnu Vekariya</cp:lastModifiedBy>
  <cp:revision>1</cp:revision>
  <dcterms:created xsi:type="dcterms:W3CDTF">2026-08-08T13:32:20Z</dcterms:created>
  <dcterms:modified xsi:type="dcterms:W3CDTF">2026-08-08T13:32:20Z</dcterms:modified>
</cp:coreProperties>
</file>